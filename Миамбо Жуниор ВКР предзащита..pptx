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9" r:id="rId3"/>
    <p:sldId id="260" r:id="rId4"/>
    <p:sldId id="286" r:id="rId5"/>
    <p:sldId id="288" r:id="rId6"/>
    <p:sldId id="291" r:id="rId7"/>
    <p:sldId id="293" r:id="rId8"/>
    <p:sldId id="292" r:id="rId9"/>
    <p:sldId id="299" r:id="rId10"/>
    <p:sldId id="300" r:id="rId11"/>
    <p:sldId id="294" r:id="rId12"/>
    <p:sldId id="298" r:id="rId13"/>
    <p:sldId id="297" r:id="rId14"/>
    <p:sldId id="296" r:id="rId15"/>
    <p:sldId id="301" r:id="rId16"/>
    <p:sldId id="302" r:id="rId17"/>
    <p:sldId id="303" r:id="rId18"/>
    <p:sldId id="295" r:id="rId19"/>
    <p:sldId id="304" r:id="rId20"/>
    <p:sldId id="278" r:id="rId21"/>
    <p:sldId id="285" r:id="rId22"/>
  </p:sldIdLst>
  <p:sldSz cx="12192000" cy="6858000"/>
  <p:notesSz cx="6858000" cy="12192000"/>
  <p:embeddedFontLst>
    <p:embeddedFont>
      <p:font typeface="High Tower Text" panose="02040502050506030303" pitchFamily="18" charset="0"/>
      <p:regular r:id="rId24"/>
      <p:italic r:id="rId25"/>
    </p:embeddedFont>
    <p:embeddedFont>
      <p:font typeface="Liter" panose="02000503030000020004" pitchFamily="2" charset="0"/>
      <p:regular r:id="rId26"/>
    </p:embeddedFont>
    <p:embeddedFont>
      <p:font typeface="Quattrocento Sans" panose="020B0502050000020003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897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200" y="1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75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B4A53-DB2D-0DB8-209E-3FB92F4E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0C32C-BA06-94D6-CBED-BD0E20EC3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EC01C-B873-6097-7C76-5C374D5BB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2B3DF-0BBB-003A-E7B3-EFBF36C0D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0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24B38-A3C2-4FEF-D9DE-066F8520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EA657-5222-2EE2-FA40-E14279FF4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DB13B-7D2B-D0B1-635E-E506E8EDD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A4D8E-E943-800A-432D-EEE5255BD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93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133E8-F0AC-7999-CEB3-8161371E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A2793-4A67-2083-781F-49AC7B111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E3622-861C-7D37-B848-51F73E66B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B4F45-C7FE-DE74-2DF5-EABBB4712D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79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62F9-DA70-BD1E-EACE-E156F15E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51D55-4D39-6C7A-0686-57C5889AE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7B458-FD77-B305-25BE-5C743E699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39796-5C19-EF40-9E34-696AC5A5A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9B24D-9F31-4D47-1DF9-4AE2A35B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65A48-A70F-9914-4280-F9C221DF1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5F80F-CA9D-B2BE-040B-0F8E90CFB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14874-8585-7B64-FE63-72CAF6DC2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29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661CE-5DEA-67DE-50C5-24AA7F217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43D2-896F-A359-9A2B-94979DAB6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2663F-0F1A-4CB7-CBF7-37298B70B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2E157-1A57-06F2-770E-8A6D8E7D64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55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4EB6A-9EED-02B4-789F-F043FD6D1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20CB9-1D55-C554-D2B5-EBAE92347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1CDA4-E3F5-1035-B5D5-B2C6DF219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E8E3C-9A7C-6177-A4D7-FF1643157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93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51A8-E911-ED00-9D10-A4B675AEE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12D1A-C782-FE06-B757-FDED08792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D06E4-1E21-A624-44BE-BD4F4B44D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F4A7-4C04-8252-7CE6-B44487498E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67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8D14-64F9-7DD8-3513-BB73A8B43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2FC50-22C4-9977-5D2E-1C84810C9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D1586-E3DB-B3CD-F89C-5A2E09DAE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6075E-7897-F32D-52C4-EE300EEEE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8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46880-D4AE-F016-8FB8-CC04DAB5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3321B-3C60-4DAC-DC3E-DA095E5CF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1DB35-3844-FA2F-9F73-475D43CD0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B3019-A873-BEE4-C8EE-CF2EA7F12E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91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ED62-69D2-11FA-E520-8077E1A08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D1E37-29EF-609B-0086-D696725C9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E20FF-6AEA-7A82-32CC-95D1616AC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8C927-86A3-8EDB-DEC8-671B543EC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77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BFA6-EDF1-5621-2C6D-4FE1A15F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FDB94-E9E1-FE9F-ED2A-C2EDC8280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C66B7-0B03-B8BB-6EA2-F8F158946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A1666-71E8-8A24-8695-939FD93060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95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69B7F-6D32-B2F6-EB07-6958716A0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28CCD-B379-9AF3-C249-2B54183B9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E9B73-C5F2-A160-C859-2158CAAF8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5326B-2A1E-80E2-CC34-40AA39C0C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321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E4407-3AEE-BAA0-DDD6-02C6360D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95DB0-75CA-1B00-8403-4F34F8E1E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C7CFB-57EF-D608-886E-FD5D40CAF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06B66-CC70-E3FC-72B7-C2E4D64CBC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343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2CC54-5CC3-7838-78A5-35A987F7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EAFCD-90DD-778E-B5D1-ABE3CDA00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80F25-8684-1044-B333-350C959B3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56395-9BC2-1A40-3E0C-684EF18BDC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48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419FD-48C3-6389-0549-47EC34DBB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2CC85-5E49-82A4-CBFD-664451514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56F00-3C96-B2F2-89A8-716167C1B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798BC-A07F-7462-779D-663CFC3DD2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546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C26EC-581D-7F99-B88E-BCB6A745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EBA25-28E3-9C0C-E2D3-104F69E18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CFBE5-9F68-9594-3816-B82F04A8C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3AF81-9D45-FB75-C323-FE53E9233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632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E2E0F-37F9-1CEE-01DE-C0C19756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242A8-E45B-1CAD-0E8F-702BA1959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04071-1773-5033-D452-4A46434F3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FBB8D-5B33-98D3-87C8-C2124E0A6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09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social-admin-dashboard.onrender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381000" y="3359831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797392" y="888039"/>
            <a:ext cx="8597215" cy="2319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2400" b="1" dirty="0">
                <a:solidFill>
                  <a:schemeClr val="bg1"/>
                </a:solidFill>
                <a:latin typeface="High Tower Text" panose="020F0502020204030204" pitchFamily="34" charset="0"/>
                <a:cs typeface="High Tower Text" panose="020F0502020204030204" pitchFamily="34" charset="0"/>
              </a:rPr>
              <a:t>Разработка отказоустойчивой микросервисной архитектуры для мобильного приложения по оптимизации продуктивности с интеграцией машинного обучения</a:t>
            </a:r>
            <a:endParaRPr lang="en-US" sz="2400" b="1" dirty="0">
              <a:solidFill>
                <a:schemeClr val="bg1"/>
              </a:solidFill>
              <a:latin typeface="High Tower Text" panose="020F0502020204030204" pitchFamily="34" charset="0"/>
              <a:cs typeface="High Tower Text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847975" y="3650284"/>
            <a:ext cx="6496050" cy="151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ru-RU" dirty="0">
                <a:solidFill>
                  <a:schemeClr val="bg2"/>
                </a:solidFill>
              </a:rPr>
              <a:t>Выпускная Квалификационная Работа</a:t>
            </a:r>
          </a:p>
          <a:p>
            <a:pPr algn="ctr">
              <a:lnSpc>
                <a:spcPct val="140000"/>
              </a:lnSpc>
            </a:pPr>
            <a:endParaRPr lang="ru-RU" dirty="0">
              <a:solidFill>
                <a:schemeClr val="bg2"/>
              </a:solidFill>
            </a:endParaRPr>
          </a:p>
          <a:p>
            <a:pPr algn="ctr">
              <a:lnSpc>
                <a:spcPct val="140000"/>
              </a:lnSpc>
            </a:pPr>
            <a:r>
              <a:rPr lang="ru-RU" dirty="0">
                <a:solidFill>
                  <a:schemeClr val="bg2"/>
                </a:solidFill>
              </a:rPr>
              <a:t>Миамбо Жуниор Рикардо</a:t>
            </a:r>
          </a:p>
          <a:p>
            <a:pPr algn="ctr">
              <a:lnSpc>
                <a:spcPct val="140000"/>
              </a:lnSpc>
            </a:pPr>
            <a:r>
              <a:rPr lang="ru-RU" dirty="0">
                <a:solidFill>
                  <a:schemeClr val="bg2"/>
                </a:solidFill>
              </a:rPr>
              <a:t>Научный руководитель: Сафин Руслан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9555C-3E5B-0261-49A8-4AC960260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6E6EE0E7-9B5D-3C9C-2EB6-F50F23A89E46}"/>
              </a:ext>
            </a:extLst>
          </p:cNvPr>
          <p:cNvSpPr/>
          <p:nvPr/>
        </p:nvSpPr>
        <p:spPr>
          <a:xfrm>
            <a:off x="528077" y="1225022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0DE75C-169B-AC3C-C75F-6143FE9BF05D}"/>
              </a:ext>
            </a:extLst>
          </p:cNvPr>
          <p:cNvSpPr txBox="1"/>
          <p:nvPr/>
        </p:nvSpPr>
        <p:spPr>
          <a:xfrm>
            <a:off x="366712" y="700089"/>
            <a:ext cx="205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Проблема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10EBA-794F-197B-1896-C8FE2D929F5A}"/>
              </a:ext>
            </a:extLst>
          </p:cNvPr>
          <p:cNvSpPr txBox="1"/>
          <p:nvPr/>
        </p:nvSpPr>
        <p:spPr>
          <a:xfrm>
            <a:off x="864253" y="1284864"/>
            <a:ext cx="10234613" cy="5196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Современные инструменты повышения производительности разбросаны по разным приложениям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Это создает фрагментацию данных и усложняет получение ценных инсайтов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Пользователи тратят много времени на переключение между приложениями и повторный ввод данных.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Не существует единой платформы, которая объединяет все эти данные и обеспечивает комплексный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362892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ru-RU" sz="270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Почему существующие решения не оправдывают ожиданий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763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три причины, по которым </a:t>
            </a:r>
            <a:r>
              <a:rPr lang="en-US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ProductiveSocial </a:t>
            </a:r>
            <a:r>
              <a:rPr lang="ru-RU" sz="13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добьется успеха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5288" y="1371599"/>
            <a:ext cx="45719" cy="2800349"/>
          </a:xfrm>
          <a:custGeom>
            <a:avLst/>
            <a:gdLst/>
            <a:ahLst/>
            <a:cxnLst/>
            <a:rect l="l" t="t" r="r" b="b"/>
            <a:pathLst>
              <a:path w="28575" h="2533650">
                <a:moveTo>
                  <a:pt x="0" y="0"/>
                </a:moveTo>
                <a:lnTo>
                  <a:pt x="28575" y="0"/>
                </a:lnTo>
                <a:lnTo>
                  <a:pt x="28575" y="2533650"/>
                </a:lnTo>
                <a:lnTo>
                  <a:pt x="0" y="25336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8175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1525" y="1504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09675" y="1447800"/>
            <a:ext cx="16464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Фрагментация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8175" y="1943100"/>
            <a:ext cx="5438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b="1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Среднестатистический пользователь управляет </a:t>
            </a:r>
            <a:r>
              <a:rPr lang="en-US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4-7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разных</a:t>
            </a:r>
            <a:r>
              <a:rPr lang="en-US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приложений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одновременно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</a:t>
            </a:r>
            <a:r>
              <a:rPr lang="ru-RU" sz="1200" dirty="0">
                <a:solidFill>
                  <a:schemeClr val="bg2">
                    <a:lumMod val="90000"/>
                  </a:schemeClr>
                </a:solidFill>
                <a:effectLst/>
              </a:rPr>
              <a:t>трекером привычек, таймером 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  <a:effectLst/>
              </a:rPr>
              <a:t>pomodoro, </a:t>
            </a:r>
            <a:r>
              <a:rPr lang="ru-RU" sz="1200" dirty="0">
                <a:solidFill>
                  <a:schemeClr val="bg2">
                    <a:lumMod val="90000"/>
                  </a:schemeClr>
                </a:solidFill>
                <a:effectLst/>
              </a:rPr>
              <a:t>диспетчером задач, приложением для создания заметок, календарем и инструментом для постановки целей. Такая фрагментация создает три критические проблемы:</a:t>
            </a:r>
            <a:endParaRPr 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38175" y="298540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A3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925" y="2891517"/>
            <a:ext cx="4343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Хранилища данных</a:t>
            </a: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Каждое приложение отражает только один аспект производительности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7225" y="341131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A3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3925" y="3252107"/>
            <a:ext cx="5133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Переключение контекста</a:t>
            </a: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несколькими интерфейсами сокращает фактическое время работы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8175" y="389844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A3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3925" y="3785506"/>
            <a:ext cx="4486275" cy="386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Отсутствие синтеза</a:t>
            </a:r>
            <a:r>
              <a:rPr lang="en-US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Невозможно выявить поведенческие паттерны, характерных для разных инструментов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5288" y="4288971"/>
            <a:ext cx="28575" cy="2362200"/>
          </a:xfrm>
          <a:custGeom>
            <a:avLst/>
            <a:gdLst/>
            <a:ahLst/>
            <a:cxnLst/>
            <a:rect l="l" t="t" r="r" b="b"/>
            <a:pathLst>
              <a:path w="28575" h="2362200">
                <a:moveTo>
                  <a:pt x="0" y="0"/>
                </a:moveTo>
                <a:lnTo>
                  <a:pt x="28575" y="0"/>
                </a:lnTo>
                <a:lnTo>
                  <a:pt x="285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8175" y="42889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1525" y="442232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9674" y="4365171"/>
            <a:ext cx="43243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Отслеживание по уровню поверхности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175" y="4860471"/>
            <a:ext cx="5438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Приложения регистрируют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b="1" dirty="0">
                <a:solidFill>
                  <a:srgbClr val="E0F2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Данные но не справляются с предоставлением аналитических данных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Они отвечают на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»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 вы делали?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Но не могут ответить: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175" y="5508171"/>
            <a:ext cx="5438775" cy="228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"Когда вы наиболее продуктивны?"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175" y="5812971"/>
            <a:ext cx="5438775" cy="228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"Какие привычки коррелируют с успехом?"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175" y="6117771"/>
            <a:ext cx="5438775" cy="228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"Почему вы проваливаете определенные задания?"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175" y="6422571"/>
            <a:ext cx="5438775" cy="228600"/>
          </a:xfrm>
          <a:prstGeom prst="rect">
            <a:avLst/>
          </a:prstGeom>
          <a:noFill/>
          <a:ln/>
        </p:spPr>
        <p:txBody>
          <a:bodyPr wrap="square" lIns="19050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"Как вы можете оптимизировать свой график работы?"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5538" y="1371600"/>
            <a:ext cx="28575" cy="3086100"/>
          </a:xfrm>
          <a:custGeom>
            <a:avLst/>
            <a:gdLst/>
            <a:ahLst/>
            <a:cxnLst/>
            <a:rect l="l" t="t" r="r" b="b"/>
            <a:pathLst>
              <a:path w="28575" h="3086100">
                <a:moveTo>
                  <a:pt x="0" y="0"/>
                </a:moveTo>
                <a:lnTo>
                  <a:pt x="28575" y="0"/>
                </a:lnTo>
                <a:lnTo>
                  <a:pt x="28575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48425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F2F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69869" y="1504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255" y="-9265"/>
                </a:moveTo>
                <a:cubicBezTo>
                  <a:pt x="11757" y="-12762"/>
                  <a:pt x="6102" y="-12762"/>
                  <a:pt x="2642" y="-9265"/>
                </a:cubicBezTo>
                <a:cubicBezTo>
                  <a:pt x="-819" y="-5767"/>
                  <a:pt x="-856" y="-112"/>
                  <a:pt x="2604" y="3386"/>
                </a:cubicBezTo>
                <a:lnTo>
                  <a:pt x="199058" y="199839"/>
                </a:lnTo>
                <a:cubicBezTo>
                  <a:pt x="202555" y="203336"/>
                  <a:pt x="208211" y="203336"/>
                  <a:pt x="211671" y="199839"/>
                </a:cubicBezTo>
                <a:cubicBezTo>
                  <a:pt x="215131" y="196342"/>
                  <a:pt x="215168" y="190686"/>
                  <a:pt x="211671" y="187226"/>
                </a:cubicBezTo>
                <a:lnTo>
                  <a:pt x="115900" y="91418"/>
                </a:lnTo>
                <a:cubicBezTo>
                  <a:pt x="136364" y="87362"/>
                  <a:pt x="151805" y="69279"/>
                  <a:pt x="151805" y="47625"/>
                </a:cubicBezTo>
                <a:cubicBezTo>
                  <a:pt x="151805" y="22957"/>
                  <a:pt x="131825" y="2977"/>
                  <a:pt x="107156" y="2977"/>
                </a:cubicBezTo>
                <a:cubicBezTo>
                  <a:pt x="85502" y="2977"/>
                  <a:pt x="67419" y="18417"/>
                  <a:pt x="63364" y="38881"/>
                </a:cubicBezTo>
                <a:lnTo>
                  <a:pt x="15255" y="-9265"/>
                </a:lnTo>
                <a:close/>
                <a:moveTo>
                  <a:pt x="87660" y="113630"/>
                </a:moveTo>
                <a:cubicBezTo>
                  <a:pt x="55029" y="117797"/>
                  <a:pt x="29766" y="145666"/>
                  <a:pt x="29766" y="179450"/>
                </a:cubicBezTo>
                <a:cubicBezTo>
                  <a:pt x="29766" y="185551"/>
                  <a:pt x="34714" y="190500"/>
                  <a:pt x="40816" y="190500"/>
                </a:cubicBezTo>
                <a:lnTo>
                  <a:pt x="164529" y="190500"/>
                </a:lnTo>
                <a:lnTo>
                  <a:pt x="87660" y="113630"/>
                </a:lnTo>
                <a:close/>
              </a:path>
            </a:pathLst>
          </a:cu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19925" y="1447800"/>
            <a:ext cx="3343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Отсутствие персонализации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8425" y="1943100"/>
            <a:ext cx="54387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 традиционных приложениях применяются универсальные подходы, которые игнорируют индивидуальные различия в: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8425" y="2705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62725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3725" y="2590800"/>
            <a:ext cx="494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Циркадные ритмы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3725" y="2819400"/>
            <a:ext cx="4933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Периоды максимальной производительности варьируются: с 6 утра до 10 утра (30%), с 10 утра до 14:00 (45%), с 14:00 до 18:00 (25%)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48425" y="342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62725" y="3543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43725" y="3314700"/>
            <a:ext cx="494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Временные рамки формирования привычек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3725" y="3543300"/>
            <a:ext cx="4933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Исследования показывают, что привычки формируются за 21-66 дней в зависимости от сложности и индивидуальных факторов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8425" y="4057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9D9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81775" y="41719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04775" y="0"/>
                </a:moveTo>
                <a:cubicBezTo>
                  <a:pt x="110044" y="0"/>
                  <a:pt x="114300" y="4256"/>
                  <a:pt x="114300" y="9525"/>
                </a:cubicBezTo>
                <a:cubicBezTo>
                  <a:pt x="114300" y="26730"/>
                  <a:pt x="107037" y="40719"/>
                  <a:pt x="97215" y="52536"/>
                </a:cubicBezTo>
                <a:cubicBezTo>
                  <a:pt x="90041" y="61139"/>
                  <a:pt x="81201" y="68937"/>
                  <a:pt x="72330" y="76200"/>
                </a:cubicBezTo>
                <a:cubicBezTo>
                  <a:pt x="81201" y="83493"/>
                  <a:pt x="90041" y="91261"/>
                  <a:pt x="97215" y="99864"/>
                </a:cubicBezTo>
                <a:cubicBezTo>
                  <a:pt x="107037" y="111651"/>
                  <a:pt x="114300" y="125670"/>
                  <a:pt x="114300" y="142875"/>
                </a:cubicBezTo>
                <a:cubicBezTo>
                  <a:pt x="114300" y="148144"/>
                  <a:pt x="110044" y="152400"/>
                  <a:pt x="104775" y="152400"/>
                </a:cubicBezTo>
                <a:cubicBezTo>
                  <a:pt x="99506" y="152400"/>
                  <a:pt x="95250" y="148144"/>
                  <a:pt x="95250" y="142875"/>
                </a:cubicBezTo>
                <a:lnTo>
                  <a:pt x="19050" y="142875"/>
                </a:lnTo>
                <a:cubicBezTo>
                  <a:pt x="19050" y="148144"/>
                  <a:pt x="14794" y="152400"/>
                  <a:pt x="9525" y="152400"/>
                </a:cubicBezTo>
                <a:cubicBezTo>
                  <a:pt x="4256" y="152400"/>
                  <a:pt x="0" y="148144"/>
                  <a:pt x="0" y="142875"/>
                </a:cubicBezTo>
                <a:cubicBezTo>
                  <a:pt x="0" y="125670"/>
                  <a:pt x="7263" y="111681"/>
                  <a:pt x="17085" y="99864"/>
                </a:cubicBezTo>
                <a:cubicBezTo>
                  <a:pt x="24259" y="91261"/>
                  <a:pt x="33099" y="83493"/>
                  <a:pt x="41970" y="76200"/>
                </a:cubicBezTo>
                <a:cubicBezTo>
                  <a:pt x="33099" y="68907"/>
                  <a:pt x="24259" y="61139"/>
                  <a:pt x="17085" y="52536"/>
                </a:cubicBezTo>
                <a:cubicBezTo>
                  <a:pt x="7263" y="40719"/>
                  <a:pt x="0" y="26730"/>
                  <a:pt x="0" y="9525"/>
                </a:cubicBezTo>
                <a:cubicBezTo>
                  <a:pt x="0" y="4256"/>
                  <a:pt x="4256" y="0"/>
                  <a:pt x="9525" y="0"/>
                </a:cubicBezTo>
                <a:cubicBezTo>
                  <a:pt x="14794" y="0"/>
                  <a:pt x="19050" y="4256"/>
                  <a:pt x="19050" y="9525"/>
                </a:cubicBezTo>
                <a:lnTo>
                  <a:pt x="95250" y="9525"/>
                </a:lnTo>
                <a:cubicBezTo>
                  <a:pt x="95250" y="4256"/>
                  <a:pt x="99506" y="0"/>
                  <a:pt x="104775" y="0"/>
                </a:cubicBezTo>
                <a:close/>
                <a:moveTo>
                  <a:pt x="84386" y="114300"/>
                </a:moveTo>
                <a:lnTo>
                  <a:pt x="29944" y="114300"/>
                </a:lnTo>
                <a:cubicBezTo>
                  <a:pt x="27503" y="117425"/>
                  <a:pt x="25450" y="120581"/>
                  <a:pt x="23813" y="123825"/>
                </a:cubicBezTo>
                <a:lnTo>
                  <a:pt x="90547" y="123825"/>
                </a:lnTo>
                <a:cubicBezTo>
                  <a:pt x="88880" y="120581"/>
                  <a:pt x="86826" y="117425"/>
                  <a:pt x="84415" y="114300"/>
                </a:cubicBezTo>
                <a:close/>
                <a:moveTo>
                  <a:pt x="70842" y="100013"/>
                </a:moveTo>
                <a:cubicBezTo>
                  <a:pt x="66586" y="96143"/>
                  <a:pt x="61972" y="92333"/>
                  <a:pt x="57150" y="88404"/>
                </a:cubicBezTo>
                <a:cubicBezTo>
                  <a:pt x="52328" y="92303"/>
                  <a:pt x="47714" y="96143"/>
                  <a:pt x="43458" y="100013"/>
                </a:cubicBezTo>
                <a:lnTo>
                  <a:pt x="70842" y="100013"/>
                </a:lnTo>
                <a:close/>
                <a:moveTo>
                  <a:pt x="29914" y="38100"/>
                </a:moveTo>
                <a:lnTo>
                  <a:pt x="84356" y="38100"/>
                </a:lnTo>
                <a:cubicBezTo>
                  <a:pt x="86797" y="34975"/>
                  <a:pt x="88850" y="31819"/>
                  <a:pt x="90488" y="28575"/>
                </a:cubicBezTo>
                <a:lnTo>
                  <a:pt x="23783" y="28575"/>
                </a:lnTo>
                <a:cubicBezTo>
                  <a:pt x="25450" y="31819"/>
                  <a:pt x="27503" y="34975"/>
                  <a:pt x="29914" y="38100"/>
                </a:cubicBezTo>
                <a:close/>
                <a:moveTo>
                  <a:pt x="43458" y="52388"/>
                </a:moveTo>
                <a:cubicBezTo>
                  <a:pt x="47714" y="56257"/>
                  <a:pt x="52328" y="60067"/>
                  <a:pt x="57150" y="63996"/>
                </a:cubicBezTo>
                <a:cubicBezTo>
                  <a:pt x="61972" y="60097"/>
                  <a:pt x="66586" y="56257"/>
                  <a:pt x="70842" y="52388"/>
                </a:cubicBezTo>
                <a:lnTo>
                  <a:pt x="43458" y="52388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43725" y="4038600"/>
            <a:ext cx="481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0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Поведенческие паттерны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43725" y="4267200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05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Факторы, приводящие к успеху, оптимальная сложность задачи и предпочтения в отношении окружающей среды уникальны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9825" y="5010149"/>
            <a:ext cx="5591175" cy="1641021"/>
          </a:xfrm>
          <a:custGeom>
            <a:avLst/>
            <a:gdLst/>
            <a:ahLst/>
            <a:cxnLst/>
            <a:rect l="l" t="t" r="r" b="b"/>
            <a:pathLst>
              <a:path w="5610225" h="1466850">
                <a:moveTo>
                  <a:pt x="0" y="0"/>
                </a:moveTo>
                <a:lnTo>
                  <a:pt x="5610225" y="0"/>
                </a:lnTo>
                <a:lnTo>
                  <a:pt x="5610225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00775" y="5010150"/>
            <a:ext cx="19050" cy="1466850"/>
          </a:xfrm>
          <a:custGeom>
            <a:avLst/>
            <a:gdLst/>
            <a:ahLst/>
            <a:cxnLst/>
            <a:rect l="l" t="t" r="r" b="b"/>
            <a:pathLst>
              <a:path w="19050" h="1466850">
                <a:moveTo>
                  <a:pt x="0" y="0"/>
                </a:moveTo>
                <a:lnTo>
                  <a:pt x="19050" y="0"/>
                </a:lnTo>
                <a:lnTo>
                  <a:pt x="1905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57950" y="5200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00850" y="5200650"/>
            <a:ext cx="490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350" b="1" dirty="0">
                <a:solidFill>
                  <a:srgbClr val="F0FD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Разрыв в интеллекте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00850" y="5543550"/>
            <a:ext cx="4895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Актуальные приложения фиксируются на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пользователи делают, но не могут понять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почему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они это делают и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b="1" dirty="0">
                <a:solidFill>
                  <a:srgbClr val="4D9D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как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можно улучшить</a:t>
            </a:r>
            <a:r>
              <a:rPr lang="en-US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ProductiveSocial </a:t>
            </a:r>
            <a:r>
              <a:rPr lang="ru-RU" sz="1200" dirty="0">
                <a:solidFill>
                  <a:srgbClr val="A3A3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устраняет этот пробел, обобщая данные в полезную поведенческую аналитику.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6163F-D6D9-A64D-106B-C5A7DBBE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BCB17ED-EC15-7CE2-DC3E-DB6CADD44846}"/>
              </a:ext>
            </a:extLst>
          </p:cNvPr>
          <p:cNvSpPr/>
          <p:nvPr/>
        </p:nvSpPr>
        <p:spPr>
          <a:xfrm>
            <a:off x="252412" y="1687069"/>
            <a:ext cx="8071036" cy="84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F0FD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Productive</a:t>
            </a:r>
            <a:r>
              <a:rPr lang="en-US" sz="6750" b="1" dirty="0">
                <a:solidFill>
                  <a:srgbClr val="4D9D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</a:t>
            </a:r>
            <a:endParaRPr lang="en-US" sz="1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65F87D6-3346-D8DB-A4F7-27E7836D185F}"/>
              </a:ext>
            </a:extLst>
          </p:cNvPr>
          <p:cNvSpPr/>
          <p:nvPr/>
        </p:nvSpPr>
        <p:spPr>
          <a:xfrm>
            <a:off x="252412" y="1348595"/>
            <a:ext cx="1066800" cy="45719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C295BEE-5B13-AABA-1A5A-FDD929D4F300}"/>
              </a:ext>
            </a:extLst>
          </p:cNvPr>
          <p:cNvSpPr/>
          <p:nvPr/>
        </p:nvSpPr>
        <p:spPr>
          <a:xfrm>
            <a:off x="381000" y="2533383"/>
            <a:ext cx="7486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2700" dirty="0">
                <a:solidFill>
                  <a:srgbClr val="E0F2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Операционная система для</a:t>
            </a:r>
            <a:r>
              <a:rPr lang="en-US" sz="2700" dirty="0">
                <a:solidFill>
                  <a:srgbClr val="E0F2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ru-RU" sz="2700" dirty="0">
                <a:solidFill>
                  <a:srgbClr val="E0F2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самого себя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E52364-F297-9F27-CF2C-2EA667ADD3AB}"/>
              </a:ext>
            </a:extLst>
          </p:cNvPr>
          <p:cNvSpPr txBox="1"/>
          <p:nvPr/>
        </p:nvSpPr>
        <p:spPr>
          <a:xfrm>
            <a:off x="381000" y="3429000"/>
            <a:ext cx="109372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Создание единой платформы для повышения личной эффективности.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Обеспечение интегрированного и контекстно-информированного анализа данных пользователя с помощью машинного обучения.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Переход от пассивного сбора информации к активному, интеллектуальному управлению продуктивностью.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C0D7B5-BC83-1F53-CEB0-8C32E0F0F0B7}"/>
              </a:ext>
            </a:extLst>
          </p:cNvPr>
          <p:cNvSpPr txBox="1"/>
          <p:nvPr/>
        </p:nvSpPr>
        <p:spPr>
          <a:xfrm>
            <a:off x="252412" y="553184"/>
            <a:ext cx="205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Решение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76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C55A9-6776-4ADC-2C23-EAC6F5EC7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385CF17B-6B6D-7C12-28AB-A022F13660D9}"/>
              </a:ext>
            </a:extLst>
          </p:cNvPr>
          <p:cNvSpPr/>
          <p:nvPr/>
        </p:nvSpPr>
        <p:spPr>
          <a:xfrm>
            <a:off x="381000" y="3359831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405407-4D22-9451-252F-CE119B302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088" y="339385"/>
            <a:ext cx="9718214" cy="613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53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E21E5-B7AE-9B08-66AF-AE96520C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FABEA60A-0B8E-0A90-2689-AA38C342ED30}"/>
              </a:ext>
            </a:extLst>
          </p:cNvPr>
          <p:cNvSpPr/>
          <p:nvPr/>
        </p:nvSpPr>
        <p:spPr>
          <a:xfrm>
            <a:off x="481011" y="1288144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C4CDFE-BEE1-A4DE-1FB1-DD13298BC362}"/>
              </a:ext>
            </a:extLst>
          </p:cNvPr>
          <p:cNvSpPr txBox="1"/>
          <p:nvPr/>
        </p:nvSpPr>
        <p:spPr>
          <a:xfrm>
            <a:off x="366710" y="587429"/>
            <a:ext cx="3762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Постановка задачи 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3EEF92-9E2C-0532-33C3-3B4B05260341}"/>
              </a:ext>
            </a:extLst>
          </p:cNvPr>
          <p:cNvSpPr txBox="1"/>
          <p:nvPr/>
        </p:nvSpPr>
        <p:spPr>
          <a:xfrm>
            <a:off x="366711" y="1634324"/>
            <a:ext cx="1127760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Реализовать базовые функции </a:t>
            </a:r>
            <a:r>
              <a:rPr lang="en-US" sz="2800" dirty="0">
                <a:solidFill>
                  <a:schemeClr val="bg1"/>
                </a:solidFill>
              </a:rPr>
              <a:t>MVP: </a:t>
            </a:r>
            <a:r>
              <a:rPr lang="ru-RU" sz="2800" dirty="0">
                <a:solidFill>
                  <a:schemeClr val="bg1"/>
                </a:solidFill>
              </a:rPr>
              <a:t>аутентификацию, управление задачами, привычками, рутинами, сеансами </a:t>
            </a:r>
            <a:r>
              <a:rPr lang="en-US" sz="2800" dirty="0">
                <a:solidFill>
                  <a:schemeClr val="bg1"/>
                </a:solidFill>
              </a:rPr>
              <a:t>Pomodoro, </a:t>
            </a:r>
            <a:r>
              <a:rPr lang="ru-RU" sz="2800" dirty="0">
                <a:solidFill>
                  <a:schemeClr val="bg1"/>
                </a:solidFill>
              </a:rPr>
              <a:t>межсервисный анализ и кредитную систему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ru-RU" sz="2800" dirty="0">
                <a:solidFill>
                  <a:schemeClr val="bg1"/>
                </a:solidFill>
              </a:rPr>
              <a:t>оффлайн-синхронизация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и внедрение ИИ.</a:t>
            </a:r>
            <a:endParaRPr lang="en-US" sz="2800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Реализовать расширения всех функции и выпустить мобильное приложение.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Реализовать социальные функции, </a:t>
            </a:r>
            <a:r>
              <a:rPr lang="ru-RU" sz="2800" dirty="0" err="1">
                <a:solidFill>
                  <a:schemeClr val="bg1"/>
                </a:solidFill>
              </a:rPr>
              <a:t>ии</a:t>
            </a:r>
            <a:r>
              <a:rPr lang="ru-RU" sz="2800" dirty="0">
                <a:solidFill>
                  <a:schemeClr val="bg1"/>
                </a:solidFill>
              </a:rPr>
              <a:t>-журнал и собственные </a:t>
            </a:r>
            <a:r>
              <a:rPr lang="en-US" sz="2800" dirty="0">
                <a:solidFill>
                  <a:schemeClr val="bg1"/>
                </a:solidFill>
              </a:rPr>
              <a:t>ML</a:t>
            </a:r>
            <a:r>
              <a:rPr lang="ru-RU" sz="2800" dirty="0">
                <a:solidFill>
                  <a:schemeClr val="bg1"/>
                </a:solidFill>
              </a:rPr>
              <a:t>-модели</a:t>
            </a:r>
          </a:p>
        </p:txBody>
      </p:sp>
    </p:spTree>
    <p:extLst>
      <p:ext uri="{BB962C8B-B14F-4D97-AF65-F5344CB8AC3E}">
        <p14:creationId xmlns:p14="http://schemas.microsoft.com/office/powerpoint/2010/main" val="208533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F9B59-D566-A8AC-9BAE-08FC837A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B70A8C5E-5516-74F0-51FD-1D66DB00B943}"/>
              </a:ext>
            </a:extLst>
          </p:cNvPr>
          <p:cNvSpPr/>
          <p:nvPr/>
        </p:nvSpPr>
        <p:spPr>
          <a:xfrm>
            <a:off x="200025" y="714375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4FF31-F0D2-D5CB-ECEB-B9C70FAC60E2}"/>
              </a:ext>
            </a:extLst>
          </p:cNvPr>
          <p:cNvSpPr txBox="1"/>
          <p:nvPr/>
        </p:nvSpPr>
        <p:spPr>
          <a:xfrm>
            <a:off x="123825" y="243497"/>
            <a:ext cx="1966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Архитектура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9015D2D-C964-17A0-5AF5-AFB5121F9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1063678"/>
            <a:ext cx="11853579" cy="505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83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98D80-F9B5-7F45-429B-9723161C4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971C1289-EA49-FE2E-9EEF-5DDBF82980BE}"/>
              </a:ext>
            </a:extLst>
          </p:cNvPr>
          <p:cNvSpPr/>
          <p:nvPr/>
        </p:nvSpPr>
        <p:spPr>
          <a:xfrm>
            <a:off x="157163" y="611509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9844B-852D-5275-9EA6-4B3093782EF9}"/>
              </a:ext>
            </a:extLst>
          </p:cNvPr>
          <p:cNvSpPr txBox="1"/>
          <p:nvPr/>
        </p:nvSpPr>
        <p:spPr>
          <a:xfrm>
            <a:off x="157163" y="148831"/>
            <a:ext cx="4368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Архитектура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 descr="Изображение выглядит как диаграмма, План, Технический чертеж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24E0B4-A3AA-69CD-2032-8C35B3CF9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3" y="640084"/>
            <a:ext cx="11196637" cy="608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58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8DE19-7971-9EED-36F3-236ED104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D7E8DF47-8357-B69F-1306-ECE67F860533}"/>
              </a:ext>
            </a:extLst>
          </p:cNvPr>
          <p:cNvSpPr/>
          <p:nvPr/>
        </p:nvSpPr>
        <p:spPr>
          <a:xfrm>
            <a:off x="157163" y="1008403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1E4061-312B-3838-761E-C1279CFD9A6D}"/>
              </a:ext>
            </a:extLst>
          </p:cNvPr>
          <p:cNvSpPr txBox="1"/>
          <p:nvPr/>
        </p:nvSpPr>
        <p:spPr>
          <a:xfrm>
            <a:off x="157163" y="148831"/>
            <a:ext cx="1966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Архитектура</a:t>
            </a:r>
            <a:r>
              <a:rPr lang="en-US" sz="2400" dirty="0">
                <a:solidFill>
                  <a:schemeClr val="bg1"/>
                </a:solidFill>
              </a:rPr>
              <a:t> MVP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8F961C-3CC0-307F-B8E2-66A15EFE3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081" y="279480"/>
            <a:ext cx="8979298" cy="642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93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0B0A7-4554-D371-D066-B28ABEE1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DE9694C4-6173-E225-0A9D-0E8906760AAB}"/>
              </a:ext>
            </a:extLst>
          </p:cNvPr>
          <p:cNvSpPr/>
          <p:nvPr/>
        </p:nvSpPr>
        <p:spPr>
          <a:xfrm>
            <a:off x="157163" y="1008403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6398E-57CF-42EC-E4FE-50C420026E3D}"/>
              </a:ext>
            </a:extLst>
          </p:cNvPr>
          <p:cNvSpPr txBox="1"/>
          <p:nvPr/>
        </p:nvSpPr>
        <p:spPr>
          <a:xfrm>
            <a:off x="157163" y="148831"/>
            <a:ext cx="1966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Архитектура</a:t>
            </a:r>
            <a:r>
              <a:rPr lang="en-US" sz="2400" dirty="0">
                <a:solidFill>
                  <a:schemeClr val="bg1"/>
                </a:solidFill>
              </a:rPr>
              <a:t> MVP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90122B-6FAA-40A0-539B-91FE47264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081" y="564329"/>
            <a:ext cx="7772400" cy="59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07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23151-DDD8-1266-074D-CE8C778D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A2FB5AF0-0374-EE9E-423E-100AE1455DFE}"/>
              </a:ext>
            </a:extLst>
          </p:cNvPr>
          <p:cNvSpPr/>
          <p:nvPr/>
        </p:nvSpPr>
        <p:spPr>
          <a:xfrm>
            <a:off x="342900" y="1328738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923796-45EE-5154-C9F5-C0F4E70A248B}"/>
              </a:ext>
            </a:extLst>
          </p:cNvPr>
          <p:cNvSpPr txBox="1"/>
          <p:nvPr/>
        </p:nvSpPr>
        <p:spPr>
          <a:xfrm>
            <a:off x="223837" y="254854"/>
            <a:ext cx="3290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Реализованные функции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C51A0-E8DB-2A32-6F78-0DA6C0EACBDB}"/>
              </a:ext>
            </a:extLst>
          </p:cNvPr>
          <p:cNvSpPr txBox="1"/>
          <p:nvPr/>
        </p:nvSpPr>
        <p:spPr>
          <a:xfrm>
            <a:off x="342900" y="1709499"/>
            <a:ext cx="111871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Аутентификация</a:t>
            </a:r>
            <a:r>
              <a:rPr lang="ru-RU" sz="2400" dirty="0">
                <a:solidFill>
                  <a:schemeClr val="bg1"/>
                </a:solidFill>
              </a:rPr>
              <a:t>: вход по </a:t>
            </a:r>
            <a:r>
              <a:rPr lang="en-US" sz="2400" dirty="0">
                <a:solidFill>
                  <a:schemeClr val="bg1"/>
                </a:solidFill>
              </a:rPr>
              <a:t>email, JWT-</a:t>
            </a:r>
            <a:r>
              <a:rPr lang="ru-RU" sz="2400" dirty="0">
                <a:solidFill>
                  <a:schemeClr val="bg1"/>
                </a:solidFill>
              </a:rPr>
              <a:t>токены, безопасный вход и выход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Инструменты продуктивности</a:t>
            </a:r>
            <a:r>
              <a:rPr lang="ru-RU" sz="2400" dirty="0">
                <a:solidFill>
                  <a:schemeClr val="bg1"/>
                </a:solidFill>
              </a:rPr>
              <a:t>: задачи, привычки, рутины, таймер </a:t>
            </a:r>
            <a:r>
              <a:rPr lang="ru-RU" sz="2400" dirty="0" err="1">
                <a:solidFill>
                  <a:schemeClr val="bg1"/>
                </a:solidFill>
              </a:rPr>
              <a:t>Помодоро</a:t>
            </a:r>
            <a:r>
              <a:rPr lang="ru-RU" sz="2400" dirty="0">
                <a:solidFill>
                  <a:schemeClr val="bg1"/>
                </a:solidFill>
              </a:rPr>
              <a:t> (связанный с объектами)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Обмен данными и интеграция: </a:t>
            </a:r>
            <a:r>
              <a:rPr lang="ru-RU" sz="2400" dirty="0">
                <a:solidFill>
                  <a:schemeClr val="bg1"/>
                </a:solidFill>
              </a:rPr>
              <a:t>обмен данными в реальном времени между модулями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Аналитика на базе ИИ</a:t>
            </a:r>
            <a:r>
              <a:rPr lang="ru-RU" sz="2400" dirty="0">
                <a:solidFill>
                  <a:schemeClr val="bg1"/>
                </a:solidFill>
              </a:rPr>
              <a:t>: </a:t>
            </a:r>
            <a:r>
              <a:rPr lang="ru-RU" sz="2400" dirty="0" err="1">
                <a:solidFill>
                  <a:schemeClr val="bg1"/>
                </a:solidFill>
              </a:rPr>
              <a:t>междоменные</a:t>
            </a:r>
            <a:r>
              <a:rPr lang="ru-RU" sz="2400" dirty="0">
                <a:solidFill>
                  <a:schemeClr val="bg1"/>
                </a:solidFill>
              </a:rPr>
              <a:t> инсайты, персонализированные рекомендации, разные типы анализа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Система кредитов</a:t>
            </a:r>
            <a:r>
              <a:rPr lang="ru-RU" sz="2400" dirty="0">
                <a:solidFill>
                  <a:schemeClr val="bg1"/>
                </a:solidFill>
              </a:rPr>
              <a:t>: управление кредитами, автоматическое списание, приветственный бонус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Мобильное приложение с офлайн-режимом</a:t>
            </a:r>
            <a:r>
              <a:rPr lang="ru-RU" sz="2400" dirty="0">
                <a:solidFill>
                  <a:schemeClr val="bg1"/>
                </a:solidFill>
              </a:rPr>
              <a:t>: локальное хранилище, синхронизация.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solidFill>
                  <a:schemeClr val="bg1"/>
                </a:solidFill>
              </a:rPr>
              <a:t>Дашборды</a:t>
            </a:r>
            <a:r>
              <a:rPr lang="ru-RU" sz="2400" dirty="0">
                <a:solidFill>
                  <a:schemeClr val="bg1"/>
                </a:solidFill>
              </a:rPr>
              <a:t>: административные и пользовательские интерфейсы (</a:t>
            </a:r>
            <a:r>
              <a:rPr lang="en-US" sz="2400" dirty="0" err="1">
                <a:solidFill>
                  <a:schemeClr val="bg1"/>
                </a:solidFill>
              </a:rPr>
              <a:t>Streamlit</a:t>
            </a:r>
            <a:r>
              <a:rPr lang="en-US" sz="2400" dirty="0">
                <a:solidFill>
                  <a:schemeClr val="bg1"/>
                </a:solidFill>
              </a:rPr>
              <a:t>) </a:t>
            </a:r>
            <a:r>
              <a:rPr lang="ru-RU" sz="2400" dirty="0">
                <a:solidFill>
                  <a:schemeClr val="bg1"/>
                </a:solidFill>
              </a:rPr>
              <a:t>для мониторинга и анализа</a:t>
            </a:r>
          </a:p>
        </p:txBody>
      </p:sp>
    </p:spTree>
    <p:extLst>
      <p:ext uri="{BB962C8B-B14F-4D97-AF65-F5344CB8AC3E}">
        <p14:creationId xmlns:p14="http://schemas.microsoft.com/office/powerpoint/2010/main" val="56899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A9C21-608C-D623-CC13-7F41CBAC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30e7ad2e5cfdc4a07fdbc0fc6f376fb6dd842690.jpg">
            <a:extLst>
              <a:ext uri="{FF2B5EF4-FFF2-40B4-BE49-F238E27FC236}">
                <a16:creationId xmlns:a16="http://schemas.microsoft.com/office/drawing/2014/main" id="{CAAD0F6B-B557-4D32-2D32-038EFCAF06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1A72A8C-C321-0413-CA49-886B6D5824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E999A65-FE7C-BC48-8602-AB9BE7DD9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526" y="517074"/>
            <a:ext cx="2913035" cy="6089058"/>
          </a:xfrm>
          <a:prstGeom prst="rect">
            <a:avLst/>
          </a:prstGeom>
        </p:spPr>
      </p:pic>
      <p:sp>
        <p:nvSpPr>
          <p:cNvPr id="18" name="Shape 4">
            <a:extLst>
              <a:ext uri="{FF2B5EF4-FFF2-40B4-BE49-F238E27FC236}">
                <a16:creationId xmlns:a16="http://schemas.microsoft.com/office/drawing/2014/main" id="{921A6AC1-7152-3A68-80F2-44918E37D55F}"/>
              </a:ext>
            </a:extLst>
          </p:cNvPr>
          <p:cNvSpPr/>
          <p:nvPr/>
        </p:nvSpPr>
        <p:spPr>
          <a:xfrm>
            <a:off x="157163" y="966144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FB3A9D-06B5-53C9-98AB-7881315A2A42}"/>
              </a:ext>
            </a:extLst>
          </p:cNvPr>
          <p:cNvSpPr txBox="1"/>
          <p:nvPr/>
        </p:nvSpPr>
        <p:spPr>
          <a:xfrm>
            <a:off x="157163" y="40021"/>
            <a:ext cx="3290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Актуальный дизайн приложения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8" name="Рисунок 7" descr="Изображение выглядит как текст, снимок экрана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DD14A5-C1CB-4242-5F42-C25FC0C8C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3172" y="517074"/>
            <a:ext cx="2913035" cy="6089057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2807E5-95EE-3576-FD84-DED2F438FF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022" y="517074"/>
            <a:ext cx="2800688" cy="608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46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B092F-C0FE-E141-DC32-9596EFD3B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30e7ad2e5cfdc4a07fdbc0fc6f376fb6dd842690.jpg">
            <a:extLst>
              <a:ext uri="{FF2B5EF4-FFF2-40B4-BE49-F238E27FC236}">
                <a16:creationId xmlns:a16="http://schemas.microsoft.com/office/drawing/2014/main" id="{CCA60979-3F21-9A0D-6AED-A25088FC1D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B09511F-CD5D-A155-7D68-45DBC11346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C26DBBAF-A7A5-DC31-8167-BBCDBED32963}"/>
              </a:ext>
            </a:extLst>
          </p:cNvPr>
          <p:cNvSpPr/>
          <p:nvPr/>
        </p:nvSpPr>
        <p:spPr>
          <a:xfrm>
            <a:off x="157163" y="966144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76BB82-03F5-111F-CDE9-3E738802C138}"/>
              </a:ext>
            </a:extLst>
          </p:cNvPr>
          <p:cNvSpPr txBox="1"/>
          <p:nvPr/>
        </p:nvSpPr>
        <p:spPr>
          <a:xfrm>
            <a:off x="157163" y="40021"/>
            <a:ext cx="3290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Актуальный дизайн приложения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5" name="Рисунок 4" descr="Изображение выглядит как текст, снимок экрана, число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5357D6-8AEA-D2FB-0BF4-3B590BC8F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528" y="509021"/>
            <a:ext cx="2901831" cy="630895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865E96-F825-A4D9-C36C-2949A556D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770" y="517074"/>
            <a:ext cx="2920240" cy="6348979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80E2E8-7C28-6DFA-54E2-ACD254DD4D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421" y="489009"/>
            <a:ext cx="2920240" cy="634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793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46327-1324-BA9A-E855-656C6746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30e7ad2e5cfdc4a07fdbc0fc6f376fb6dd842690.jpg">
            <a:extLst>
              <a:ext uri="{FF2B5EF4-FFF2-40B4-BE49-F238E27FC236}">
                <a16:creationId xmlns:a16="http://schemas.microsoft.com/office/drawing/2014/main" id="{8F7D4B2B-0B96-06F9-30FB-2950832EA0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3C7EDCC-EA5C-3440-7203-35328E0116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178334CE-5C1F-4721-32BF-C53C4236A2E7}"/>
              </a:ext>
            </a:extLst>
          </p:cNvPr>
          <p:cNvSpPr/>
          <p:nvPr/>
        </p:nvSpPr>
        <p:spPr>
          <a:xfrm>
            <a:off x="157163" y="966144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3BA849-97A4-4A0D-2D1E-983487A3FF72}"/>
              </a:ext>
            </a:extLst>
          </p:cNvPr>
          <p:cNvSpPr txBox="1"/>
          <p:nvPr/>
        </p:nvSpPr>
        <p:spPr>
          <a:xfrm>
            <a:off x="157163" y="40021"/>
            <a:ext cx="3290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Актуальный дизайн приложения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5" name="Рисунок 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8DAD75-0819-6C1B-76AD-28540A19E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032" y="604432"/>
            <a:ext cx="2844803" cy="6184971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8459FD-83C4-F171-4677-6DC8CFFAA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6577" y="604432"/>
            <a:ext cx="2844804" cy="6184971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508272-B03B-AE5E-5A8A-696DFC85DA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8673" y="604433"/>
            <a:ext cx="2844804" cy="618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927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FEE0A-D4A7-B440-F450-98E2E85A9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30e7ad2e5cfdc4a07fdbc0fc6f376fb6dd842690.jpg">
            <a:extLst>
              <a:ext uri="{FF2B5EF4-FFF2-40B4-BE49-F238E27FC236}">
                <a16:creationId xmlns:a16="http://schemas.microsoft.com/office/drawing/2014/main" id="{4287D325-B801-6608-418F-666BC6D717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98CF0B8-339D-E1EE-75CF-0D6F2EF121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B124C37E-1529-B830-07A8-10B30A6C4644}"/>
              </a:ext>
            </a:extLst>
          </p:cNvPr>
          <p:cNvSpPr/>
          <p:nvPr/>
        </p:nvSpPr>
        <p:spPr>
          <a:xfrm>
            <a:off x="157163" y="966144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6AB6A6-5641-829F-1EA9-4008E5FF6744}"/>
              </a:ext>
            </a:extLst>
          </p:cNvPr>
          <p:cNvSpPr txBox="1"/>
          <p:nvPr/>
        </p:nvSpPr>
        <p:spPr>
          <a:xfrm>
            <a:off x="157163" y="40021"/>
            <a:ext cx="3290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Актуальный дизайн приложения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238B36-123E-F71B-7E63-1104CD297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051" y="385035"/>
            <a:ext cx="2905982" cy="631798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B44270-F304-E873-4F64-FFC9041CD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211" y="385035"/>
            <a:ext cx="2905982" cy="631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96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47A92-23A2-C2AE-EB77-0EE6F2222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30e7ad2e5cfdc4a07fdbc0fc6f376fb6dd842690.jpg">
            <a:extLst>
              <a:ext uri="{FF2B5EF4-FFF2-40B4-BE49-F238E27FC236}">
                <a16:creationId xmlns:a16="http://schemas.microsoft.com/office/drawing/2014/main" id="{463AA451-4816-76F7-CB66-532C7A4FAC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06BC1B9-F025-A99A-C68A-840C2B3D28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FD836DDF-32B1-0D40-5C6D-653185B6FDCC}"/>
              </a:ext>
            </a:extLst>
          </p:cNvPr>
          <p:cNvSpPr/>
          <p:nvPr/>
        </p:nvSpPr>
        <p:spPr>
          <a:xfrm>
            <a:off x="157163" y="966144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9002D0-514A-9BE2-3118-A0F1922DC218}"/>
              </a:ext>
            </a:extLst>
          </p:cNvPr>
          <p:cNvSpPr txBox="1"/>
          <p:nvPr/>
        </p:nvSpPr>
        <p:spPr>
          <a:xfrm>
            <a:off x="157163" y="40021"/>
            <a:ext cx="3290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Панель управления администратора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D39B46-5172-679E-7D5F-6426CC04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784" y="926481"/>
            <a:ext cx="9859154" cy="552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772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0A2DC-F7DF-0AEC-CE1B-3B8D8334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30e7ad2e5cfdc4a07fdbc0fc6f376fb6dd842690.jpg">
            <a:extLst>
              <a:ext uri="{FF2B5EF4-FFF2-40B4-BE49-F238E27FC236}">
                <a16:creationId xmlns:a16="http://schemas.microsoft.com/office/drawing/2014/main" id="{DE72C8BC-CD71-8523-6C64-7EA829DE9D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7D09886-C73D-2461-76E9-F54BFC7ADD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11827"/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C61D84DB-EDFB-8D16-28D8-F81CFEFE89CE}"/>
              </a:ext>
            </a:extLst>
          </p:cNvPr>
          <p:cNvSpPr/>
          <p:nvPr/>
        </p:nvSpPr>
        <p:spPr>
          <a:xfrm>
            <a:off x="157163" y="966144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B6CD83-5370-14EA-E945-4BBAA05D51CE}"/>
              </a:ext>
            </a:extLst>
          </p:cNvPr>
          <p:cNvSpPr txBox="1"/>
          <p:nvPr/>
        </p:nvSpPr>
        <p:spPr>
          <a:xfrm>
            <a:off x="157163" y="40021"/>
            <a:ext cx="3290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Панель управления администратора</a:t>
            </a:r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B04647-3588-9A70-1518-173CC0A06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278" y="422538"/>
            <a:ext cx="8437536" cy="625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29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0C3E28-F753-D49F-A8EB-F46CC4DDD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51D40241-48B0-7A17-386D-7A144E987515}"/>
              </a:ext>
            </a:extLst>
          </p:cNvPr>
          <p:cNvSpPr/>
          <p:nvPr/>
        </p:nvSpPr>
        <p:spPr>
          <a:xfrm>
            <a:off x="342900" y="1328738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FC8519-A3B9-7C61-0927-E2265DDB7D54}"/>
              </a:ext>
            </a:extLst>
          </p:cNvPr>
          <p:cNvSpPr txBox="1"/>
          <p:nvPr/>
        </p:nvSpPr>
        <p:spPr>
          <a:xfrm>
            <a:off x="223837" y="254854"/>
            <a:ext cx="3290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Реализованные функции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BE2DE-732C-FF95-65CF-E4625862B46D}"/>
              </a:ext>
            </a:extLst>
          </p:cNvPr>
          <p:cNvSpPr txBox="1"/>
          <p:nvPr/>
        </p:nvSpPr>
        <p:spPr>
          <a:xfrm>
            <a:off x="389061" y="1914525"/>
            <a:ext cx="81163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Администраторский дашборд</a:t>
            </a:r>
            <a:r>
              <a:rPr lang="en-US" sz="2400" dirty="0">
                <a:solidFill>
                  <a:schemeClr val="bg1"/>
                </a:solidFill>
              </a:rPr>
              <a:t> – </a:t>
            </a:r>
            <a:r>
              <a:rPr lang="en-US" sz="2400" dirty="0" err="1">
                <a:solidFill>
                  <a:schemeClr val="bg1"/>
                </a:solidFill>
              </a:rPr>
              <a:t>admin@productivesocial.com</a:t>
            </a:r>
            <a:endParaRPr lang="ru-RU" sz="2400" dirty="0">
              <a:solidFill>
                <a:schemeClr val="bg1"/>
              </a:solidFill>
            </a:endParaRPr>
          </a:p>
          <a:p>
            <a:r>
              <a:rPr lang="en-US" sz="2400" dirty="0">
                <a:hlinkClick r:id="rId3"/>
              </a:rPr>
              <a:t>https://psocial-admin-dashboard.onrender.com/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83860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232D4-0503-5E3D-1087-057BE263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C0621E96-CCC0-4066-B2E2-B99E4E3F47B1}"/>
              </a:ext>
            </a:extLst>
          </p:cNvPr>
          <p:cNvSpPr/>
          <p:nvPr/>
        </p:nvSpPr>
        <p:spPr>
          <a:xfrm>
            <a:off x="223837" y="654964"/>
            <a:ext cx="1066800" cy="28575"/>
          </a:xfrm>
          <a:custGeom>
            <a:avLst/>
            <a:gdLst/>
            <a:ahLst/>
            <a:cxnLst/>
            <a:rect l="l" t="t" r="r" b="b"/>
            <a:pathLst>
              <a:path w="1066800" h="28575">
                <a:moveTo>
                  <a:pt x="0" y="0"/>
                </a:moveTo>
                <a:lnTo>
                  <a:pt x="1066800" y="0"/>
                </a:lnTo>
                <a:lnTo>
                  <a:pt x="10668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36C05C-2EBB-0354-F774-3FE8B0DED6D9}"/>
              </a:ext>
            </a:extLst>
          </p:cNvPr>
          <p:cNvSpPr txBox="1"/>
          <p:nvPr/>
        </p:nvSpPr>
        <p:spPr>
          <a:xfrm>
            <a:off x="223837" y="254854"/>
            <a:ext cx="3290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Негативы Отзывы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E2072-ACBA-FB56-4D11-76865E91F45B}"/>
              </a:ext>
            </a:extLst>
          </p:cNvPr>
          <p:cNvSpPr txBox="1"/>
          <p:nvPr/>
        </p:nvSpPr>
        <p:spPr>
          <a:xfrm>
            <a:off x="470022" y="889843"/>
            <a:ext cx="906882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Тестирование и сборка;</a:t>
            </a:r>
          </a:p>
          <a:p>
            <a:r>
              <a:rPr lang="ru-RU" sz="2400" dirty="0">
                <a:solidFill>
                  <a:schemeClr val="bg1"/>
                </a:solidFill>
              </a:rPr>
              <a:t>Ограничена эксплуатация;</a:t>
            </a:r>
          </a:p>
          <a:p>
            <a:r>
              <a:rPr lang="ru-RU" sz="2400" dirty="0">
                <a:solidFill>
                  <a:schemeClr val="bg1"/>
                </a:solidFill>
              </a:rPr>
              <a:t>Упрощены и временны решения (</a:t>
            </a:r>
            <a:r>
              <a:rPr lang="en-US" sz="2400" dirty="0" err="1">
                <a:solidFill>
                  <a:schemeClr val="bg1"/>
                </a:solidFill>
              </a:rPr>
              <a:t>ngrok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ru-RU" sz="2400" dirty="0" err="1">
                <a:solidFill>
                  <a:schemeClr val="bg1"/>
                </a:solidFill>
              </a:rPr>
              <a:t>аутентикация</a:t>
            </a:r>
            <a:r>
              <a:rPr lang="ru-RU" sz="2400" dirty="0">
                <a:solidFill>
                  <a:schemeClr val="bg1"/>
                </a:solidFill>
              </a:rPr>
              <a:t>, </a:t>
            </a:r>
            <a:r>
              <a:rPr lang="en-US" sz="2400" dirty="0">
                <a:solidFill>
                  <a:schemeClr val="bg1"/>
                </a:solidFill>
              </a:rPr>
              <a:t>render)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Пилот недоступный к реальным пользователями.</a:t>
            </a:r>
          </a:p>
          <a:p>
            <a:r>
              <a:rPr lang="ru-RU" sz="2400" dirty="0">
                <a:solidFill>
                  <a:schemeClr val="bg1"/>
                </a:solidFill>
              </a:rPr>
              <a:t>Отсутствие подробной и всеобъемлющей дорожной карты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93F44-0890-5252-0833-82A5882F5804}"/>
              </a:ext>
            </a:extLst>
          </p:cNvPr>
          <p:cNvSpPr txBox="1"/>
          <p:nvPr/>
        </p:nvSpPr>
        <p:spPr>
          <a:xfrm>
            <a:off x="470022" y="3429001"/>
            <a:ext cx="87091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• 1. Каковы ваши ближайшие планы по выходу на этап минимально жизнеспособного продукта (</a:t>
            </a:r>
            <a:r>
              <a:rPr lang="en-US" sz="2400" dirty="0">
                <a:solidFill>
                  <a:schemeClr val="bg1"/>
                </a:solidFill>
                <a:latin typeface="High Tower Text" panose="02040502050506030303" pitchFamily="18" charset="0"/>
              </a:rPr>
              <a:t>MVP), </a:t>
            </a:r>
            <a:r>
              <a:rPr lang="ru-RU" sz="2400" dirty="0">
                <a:solidFill>
                  <a:schemeClr val="bg1"/>
                </a:solidFill>
              </a:rPr>
              <a:t>и как именно вы планируете собирать и обрабатывать первую обратную связь от реальных пользователей?</a:t>
            </a: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687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138166" y="116681"/>
            <a:ext cx="3914775" cy="466725"/>
          </a:xfrm>
          <a:custGeom>
            <a:avLst/>
            <a:gdLst/>
            <a:ahLst/>
            <a:cxnLst/>
            <a:rect l="l" t="t" r="r" b="b"/>
            <a:pathLst>
              <a:path w="3914775" h="466725">
                <a:moveTo>
                  <a:pt x="0" y="0"/>
                </a:moveTo>
                <a:lnTo>
                  <a:pt x="3914775" y="0"/>
                </a:lnTo>
                <a:lnTo>
                  <a:pt x="3914775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solidFill>
            <a:srgbClr val="4D9D94">
              <a:alpha val="20000"/>
            </a:srgbClr>
          </a:solidFill>
          <a:ln w="12700">
            <a:solidFill>
              <a:srgbClr val="4D9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333429" y="264319"/>
            <a:ext cx="35251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240" dirty="0">
                <a:solidFill>
                  <a:srgbClr val="E0F2F1"/>
                </a:solidFill>
                <a:latin typeface="Quattrocento Sans" pitchFamily="34" charset="0"/>
              </a:rPr>
              <a:t>Productive Social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95078" y="1894455"/>
            <a:ext cx="7600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4500" b="1" dirty="0">
                <a:solidFill>
                  <a:srgbClr val="F0FDFA"/>
                </a:solidFill>
                <a:latin typeface="Liter" pitchFamily="34" charset="0"/>
              </a:rPr>
              <a:t>Команда</a:t>
            </a:r>
            <a:endParaRPr lang="en-US" sz="1600" dirty="0"/>
          </a:p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5953" y="2449286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6C09EA24-A587-FC7F-1778-E969A3B4C1FC}"/>
              </a:ext>
            </a:extLst>
          </p:cNvPr>
          <p:cNvSpPr/>
          <p:nvPr/>
        </p:nvSpPr>
        <p:spPr>
          <a:xfrm>
            <a:off x="357423" y="2848995"/>
            <a:ext cx="3780743" cy="231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4500" b="1" dirty="0">
                <a:solidFill>
                  <a:srgbClr val="F0FDFA"/>
                </a:solidFill>
                <a:latin typeface="Liter" pitchFamily="34" charset="0"/>
              </a:rPr>
              <a:t>Миамбо Жуниор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4D9D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manager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4D9D94"/>
                </a:solidFill>
                <a:latin typeface="Liter" pitchFamily="34" charset="0"/>
              </a:rPr>
              <a:t>Full stack developer</a:t>
            </a:r>
            <a:endParaRPr lang="en-US" sz="105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CEE137FD-684D-BEBB-4D17-C3655371BDA5}"/>
              </a:ext>
            </a:extLst>
          </p:cNvPr>
          <p:cNvSpPr/>
          <p:nvPr/>
        </p:nvSpPr>
        <p:spPr>
          <a:xfrm>
            <a:off x="4333429" y="2580255"/>
            <a:ext cx="3780743" cy="231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4500" b="1" dirty="0" err="1">
                <a:solidFill>
                  <a:srgbClr val="F0FDFA"/>
                </a:solidFill>
                <a:latin typeface="Liter" pitchFamily="34" charset="0"/>
              </a:rPr>
              <a:t>Хериклис</a:t>
            </a:r>
            <a:r>
              <a:rPr lang="ru-RU" sz="4500" b="1" dirty="0">
                <a:solidFill>
                  <a:srgbClr val="F0FDFA"/>
                </a:solidFill>
                <a:latin typeface="Liter" pitchFamily="34" charset="0"/>
              </a:rPr>
              <a:t> </a:t>
            </a:r>
            <a:r>
              <a:rPr lang="ru-RU" sz="4500" b="1" dirty="0" err="1">
                <a:solidFill>
                  <a:srgbClr val="F0FDFA"/>
                </a:solidFill>
                <a:latin typeface="Liter" pitchFamily="34" charset="0"/>
              </a:rPr>
              <a:t>Шаука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4D9D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</a:t>
            </a:r>
            <a:r>
              <a:rPr lang="en-US" sz="3200" b="1" dirty="0">
                <a:solidFill>
                  <a:srgbClr val="4D9D94"/>
                </a:solidFill>
                <a:latin typeface="Liter" pitchFamily="34" charset="0"/>
              </a:rPr>
              <a:t>developer</a:t>
            </a:r>
            <a:endParaRPr lang="en-US" sz="105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1B652B1A-E9F2-15C6-954C-807F1AF3FED7}"/>
              </a:ext>
            </a:extLst>
          </p:cNvPr>
          <p:cNvSpPr/>
          <p:nvPr/>
        </p:nvSpPr>
        <p:spPr>
          <a:xfrm>
            <a:off x="8419645" y="2848995"/>
            <a:ext cx="3780743" cy="2310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4500" b="1" dirty="0">
                <a:solidFill>
                  <a:srgbClr val="F0FDFA"/>
                </a:solidFill>
                <a:latin typeface="Liter" pitchFamily="34" charset="0"/>
              </a:rPr>
              <a:t>Руслан Сафин</a:t>
            </a:r>
          </a:p>
          <a:p>
            <a:pPr>
              <a:lnSpc>
                <a:spcPct val="100000"/>
              </a:lnSpc>
            </a:pPr>
            <a:r>
              <a:rPr lang="ru-RU" sz="3200" b="1" dirty="0">
                <a:solidFill>
                  <a:srgbClr val="4D9D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Научный руководитель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CFD68-D2D3-5FBF-E6EB-C0A470156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F7836FF-AE34-AF3B-8A05-1B69D979EBF6}"/>
              </a:ext>
            </a:extLst>
          </p:cNvPr>
          <p:cNvSpPr/>
          <p:nvPr/>
        </p:nvSpPr>
        <p:spPr>
          <a:xfrm>
            <a:off x="2295078" y="2478201"/>
            <a:ext cx="7600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sz="4500" b="1" dirty="0">
                <a:solidFill>
                  <a:srgbClr val="F0FDFA"/>
                </a:solidFill>
                <a:latin typeface="Liter" pitchFamily="34" charset="0"/>
              </a:rPr>
              <a:t>Спасибо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ru-RU" sz="4500" b="1" dirty="0">
                <a:solidFill>
                  <a:srgbClr val="4D9D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 ваше время</a:t>
            </a:r>
            <a:endParaRPr lang="en-US" sz="1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A2EB4B5-F07F-A9BF-0513-E8472661829A}"/>
              </a:ext>
            </a:extLst>
          </p:cNvPr>
          <p:cNvSpPr/>
          <p:nvPr/>
        </p:nvSpPr>
        <p:spPr>
          <a:xfrm>
            <a:off x="5485953" y="3164001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4D9D94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5887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663</Words>
  <Application>Microsoft Macintosh PowerPoint</Application>
  <PresentationFormat>Широкоэкранный</PresentationFormat>
  <Paragraphs>103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Liter</vt:lpstr>
      <vt:lpstr>Arial</vt:lpstr>
      <vt:lpstr>Quattrocento Sans</vt:lpstr>
      <vt:lpstr>High Tower Text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ProductiveSocial: The Operating System for the Self</dc:title>
  <dc:subject>ProductiveSocial: The Operating System for the Self</dc:subject>
  <dc:creator>Kimi</dc:creator>
  <cp:lastModifiedBy>Миамбо Жуниор Рикардо Агоштиньо</cp:lastModifiedBy>
  <cp:revision>9</cp:revision>
  <dcterms:created xsi:type="dcterms:W3CDTF">2026-01-22T07:08:38Z</dcterms:created>
  <dcterms:modified xsi:type="dcterms:W3CDTF">2026-06-18T13:24:59Z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{"Label":"ProductiveSocial: The Operating System for the Self","ContentProducer":"001191110108MACG2KBH8F10000","ProduceID":"19be47b0-4212-893f-8000-0000131cb88f","ReservedCode1":"","ContentPropagator":"001191110108MACG2KBH8F20000","PropagateID":"19be47b0-4212-893f-8000-0000131cb88f","ReservedCode2":""}</vt:lpwstr>
  </property>
</Properties>
</file>