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59" r:id="rId4"/>
    <p:sldId id="262" r:id="rId5"/>
    <p:sldId id="263" r:id="rId6"/>
    <p:sldId id="265" r:id="rId7"/>
    <p:sldId id="257" r:id="rId8"/>
    <p:sldId id="258" r:id="rId9"/>
    <p:sldId id="279" r:id="rId10"/>
    <p:sldId id="284" r:id="rId11"/>
    <p:sldId id="261" r:id="rId12"/>
    <p:sldId id="278" r:id="rId13"/>
    <p:sldId id="285" r:id="rId14"/>
  </p:sldIdLst>
  <p:sldSz cx="12192000" cy="6858000"/>
  <p:notesSz cx="6858000" cy="12192000"/>
  <p:embeddedFontLst>
    <p:embeddedFont>
      <p:font typeface="Liter" panose="02000503030000020004" pitchFamily="2" charset="0"/>
      <p:regular r:id="rId16"/>
    </p:embeddedFont>
    <p:embeddedFont>
      <p:font typeface="Quattrocento Sans" panose="020B05020500000200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35"/>
    <p:restoredTop sz="94610"/>
  </p:normalViewPr>
  <p:slideViewPr>
    <p:cSldViewPr snapToGrid="0" snapToObjects="1">
      <p:cViewPr>
        <p:scale>
          <a:sx n="117" d="100"/>
          <a:sy n="117" d="100"/>
        </p:scale>
        <p:origin x="14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752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E39F1-CC97-B275-5C1D-3C7CA4B0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E8811-893C-DAC0-6DB2-4EF31E46D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DAF2E-3C07-67FA-4499-F5281B147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5E6CF-399A-72FD-B333-A69EF89A63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48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B80DE-2143-EF9E-125D-132588D6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7E6F3-5885-6792-0B34-5CB6955D1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0B13C-8EEF-BCBC-54F4-479D7E6B8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152CD-B19F-3006-2B1C-68407E5640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03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E2E0F-37F9-1CEE-01DE-C0C19756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242A8-E45B-1CAD-0E8F-702BA1959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04071-1773-5033-D452-4A46434F3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FBB8D-5B33-98D3-87C8-C2124E0A6F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09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9739d9a4779ed61b158cd7da5546a6f450c68b5b.jpg"/>
          <p:cNvPicPr>
            <a:picLocks noChangeAspect="1"/>
          </p:cNvPicPr>
          <p:nvPr/>
        </p:nvPicPr>
        <p:blipFill>
          <a:blip r:embed="rId3">
            <a:alphaModFix amt="60000"/>
          </a:blip>
          <a:srcRect l="5556" r="5556"/>
          <a:stretch/>
        </p:blipFill>
        <p:spPr>
          <a:xfrm>
            <a:off x="0" y="-45357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-2177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>
                  <a:alpha val="95000"/>
                </a:srgbClr>
              </a:gs>
              <a:gs pos="50000">
                <a:srgbClr val="111827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385763" y="1769156"/>
            <a:ext cx="3543980" cy="390525"/>
          </a:xfrm>
          <a:custGeom>
            <a:avLst/>
            <a:gdLst/>
            <a:ahLst/>
            <a:cxnLst/>
            <a:rect l="l" t="t" r="r" b="b"/>
            <a:pathLst>
              <a:path w="2581275" h="390525">
                <a:moveTo>
                  <a:pt x="0" y="0"/>
                </a:moveTo>
                <a:lnTo>
                  <a:pt x="2581275" y="0"/>
                </a:lnTo>
                <a:lnTo>
                  <a:pt x="2581275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20000"/>
            </a:srgbClr>
          </a:solidFill>
          <a:ln w="12700">
            <a:solidFill>
              <a:srgbClr val="4D9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769156"/>
            <a:ext cx="3718832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050" b="1" kern="0" spc="210" dirty="0">
                <a:solidFill>
                  <a:srgbClr val="E0F2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переосмысленная производительность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54943"/>
            <a:ext cx="1185862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Productive</a:t>
            </a:r>
            <a:r>
              <a:rPr lang="en-US" sz="6750" b="1" dirty="0">
                <a:solidFill>
                  <a:srgbClr val="4D9D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359831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1000" y="3617005"/>
            <a:ext cx="7486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2700" dirty="0">
                <a:solidFill>
                  <a:srgbClr val="E0F2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Операционная система для</a:t>
            </a:r>
            <a:r>
              <a:rPr lang="en-US" sz="2700" dirty="0">
                <a:solidFill>
                  <a:srgbClr val="E0F2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ru-RU" sz="2700" dirty="0">
                <a:solidFill>
                  <a:srgbClr val="E0F2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самого себя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236131"/>
            <a:ext cx="64960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dirty="0">
                <a:solidFill>
                  <a:schemeClr val="bg2"/>
                </a:solidFill>
              </a:rPr>
              <a:t>Переосмысление Личной Продуктивности с помощью Интеллектуального Поведенческого Анализа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381000" y="597444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14350" y="610779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90600" y="5955393"/>
            <a:ext cx="1457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400" dirty="0">
                <a:solidFill>
                  <a:srgbClr val="F0FDFA"/>
                </a:solidFill>
                <a:ea typeface="Quattrocento Sans" pitchFamily="34" charset="-122"/>
                <a:cs typeface="Quattrocento Sans" pitchFamily="34" charset="-120"/>
              </a:rPr>
              <a:t>Анализ на основе искусственного интеллекта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2678311" y="597444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87848" y="610779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87911" y="5974443"/>
            <a:ext cx="1541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chemeClr val="bg2"/>
                </a:solidFill>
                <a:effectLst/>
              </a:rPr>
              <a:t>Социальная продуктивность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876651" y="597444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986189" y="610779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0" y="95250"/>
                </a:moveTo>
                <a:cubicBezTo>
                  <a:pt x="0" y="62359"/>
                  <a:pt x="26640" y="35719"/>
                  <a:pt x="59531" y="35719"/>
                </a:cubicBezTo>
                <a:cubicBezTo>
                  <a:pt x="78284" y="35719"/>
                  <a:pt x="95920" y="44537"/>
                  <a:pt x="107156" y="59531"/>
                </a:cubicBezTo>
                <a:lnTo>
                  <a:pt x="119063" y="75419"/>
                </a:lnTo>
                <a:lnTo>
                  <a:pt x="130969" y="59531"/>
                </a:lnTo>
                <a:cubicBezTo>
                  <a:pt x="142205" y="44537"/>
                  <a:pt x="159841" y="35719"/>
                  <a:pt x="178594" y="35719"/>
                </a:cubicBezTo>
                <a:cubicBezTo>
                  <a:pt x="211485" y="35719"/>
                  <a:pt x="238125" y="62359"/>
                  <a:pt x="238125" y="95250"/>
                </a:cubicBezTo>
                <a:cubicBezTo>
                  <a:pt x="238125" y="128141"/>
                  <a:pt x="211485" y="154781"/>
                  <a:pt x="178594" y="154781"/>
                </a:cubicBezTo>
                <a:cubicBezTo>
                  <a:pt x="159841" y="154781"/>
                  <a:pt x="142205" y="145963"/>
                  <a:pt x="130969" y="130969"/>
                </a:cubicBezTo>
                <a:lnTo>
                  <a:pt x="119063" y="115081"/>
                </a:lnTo>
                <a:lnTo>
                  <a:pt x="107156" y="130969"/>
                </a:lnTo>
                <a:cubicBezTo>
                  <a:pt x="95920" y="145963"/>
                  <a:pt x="78284" y="154781"/>
                  <a:pt x="59531" y="154781"/>
                </a:cubicBezTo>
                <a:cubicBezTo>
                  <a:pt x="26640" y="154781"/>
                  <a:pt x="0" y="128141"/>
                  <a:pt x="0" y="95250"/>
                </a:cubicBezTo>
                <a:close/>
                <a:moveTo>
                  <a:pt x="104180" y="95250"/>
                </a:moveTo>
                <a:lnTo>
                  <a:pt x="88106" y="73819"/>
                </a:lnTo>
                <a:cubicBezTo>
                  <a:pt x="81372" y="64815"/>
                  <a:pt x="70768" y="59531"/>
                  <a:pt x="59531" y="59531"/>
                </a:cubicBezTo>
                <a:cubicBezTo>
                  <a:pt x="39812" y="59531"/>
                  <a:pt x="23812" y="75530"/>
                  <a:pt x="23812" y="95250"/>
                </a:cubicBezTo>
                <a:cubicBezTo>
                  <a:pt x="23812" y="114970"/>
                  <a:pt x="39812" y="130969"/>
                  <a:pt x="59531" y="130969"/>
                </a:cubicBezTo>
                <a:cubicBezTo>
                  <a:pt x="70768" y="130969"/>
                  <a:pt x="81372" y="125685"/>
                  <a:pt x="88106" y="116681"/>
                </a:cubicBezTo>
                <a:lnTo>
                  <a:pt x="104180" y="95250"/>
                </a:lnTo>
                <a:close/>
                <a:moveTo>
                  <a:pt x="133945" y="95250"/>
                </a:moveTo>
                <a:lnTo>
                  <a:pt x="150019" y="116681"/>
                </a:lnTo>
                <a:cubicBezTo>
                  <a:pt x="156753" y="125685"/>
                  <a:pt x="167357" y="130969"/>
                  <a:pt x="178594" y="130969"/>
                </a:cubicBezTo>
                <a:cubicBezTo>
                  <a:pt x="198313" y="130969"/>
                  <a:pt x="214313" y="114970"/>
                  <a:pt x="214313" y="95250"/>
                </a:cubicBezTo>
                <a:cubicBezTo>
                  <a:pt x="214313" y="75530"/>
                  <a:pt x="198313" y="59531"/>
                  <a:pt x="178594" y="59531"/>
                </a:cubicBezTo>
                <a:cubicBezTo>
                  <a:pt x="167357" y="59531"/>
                  <a:pt x="156753" y="64815"/>
                  <a:pt x="150019" y="73819"/>
                </a:cubicBezTo>
                <a:lnTo>
                  <a:pt x="133945" y="9525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251" y="5974443"/>
            <a:ext cx="15887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экосистема</a:t>
            </a:r>
            <a:r>
              <a:rPr lang="ru-RU" sz="16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600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продуктивности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ru-RU" sz="27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Почему существующие решения не оправдывают ожиданий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763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три причины, по которым </a:t>
            </a:r>
            <a:r>
              <a:rPr lang="en-US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ProductiveSocial </a:t>
            </a:r>
            <a:r>
              <a:rPr lang="ru-RU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добьется успеха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5288" y="1371599"/>
            <a:ext cx="45719" cy="2800349"/>
          </a:xfrm>
          <a:custGeom>
            <a:avLst/>
            <a:gdLst/>
            <a:ahLst/>
            <a:cxnLst/>
            <a:rect l="l" t="t" r="r" b="b"/>
            <a:pathLst>
              <a:path w="28575" h="2533650">
                <a:moveTo>
                  <a:pt x="0" y="0"/>
                </a:moveTo>
                <a:lnTo>
                  <a:pt x="28575" y="0"/>
                </a:lnTo>
                <a:lnTo>
                  <a:pt x="28575" y="2533650"/>
                </a:lnTo>
                <a:lnTo>
                  <a:pt x="0" y="25336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8175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1525" y="1504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09675" y="1447800"/>
            <a:ext cx="16464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Фрагментация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8175" y="1943100"/>
            <a:ext cx="5438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12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Среднестатистический пользователь управляет </a:t>
            </a:r>
            <a:r>
              <a:rPr lang="en-US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4-7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разных</a:t>
            </a:r>
            <a:r>
              <a:rPr lang="en-US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приложений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одновременно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</a:t>
            </a:r>
            <a:r>
              <a:rPr lang="ru-RU" sz="1200" dirty="0">
                <a:solidFill>
                  <a:schemeClr val="bg2">
                    <a:lumMod val="90000"/>
                  </a:schemeClr>
                </a:solidFill>
                <a:effectLst/>
              </a:rPr>
              <a:t>трекером привычек, таймером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effectLst/>
              </a:rPr>
              <a:t>pomodoro, </a:t>
            </a:r>
            <a:r>
              <a:rPr lang="ru-RU" sz="1200" dirty="0">
                <a:solidFill>
                  <a:schemeClr val="bg2">
                    <a:lumMod val="90000"/>
                  </a:schemeClr>
                </a:solidFill>
                <a:effectLst/>
              </a:rPr>
              <a:t>диспетчером задач, приложением для создания заметок, календарем и инструментом для постановки целей. Такая фрагментация создает три критические проблемы: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38175" y="298540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A3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925" y="2891517"/>
            <a:ext cx="4343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Хранилища данных</a:t>
            </a:r>
            <a:r>
              <a:rPr lang="en-US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Каждое приложение отражает только один аспект производительности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7225" y="341131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A3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3925" y="3252107"/>
            <a:ext cx="5133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Переключение контекста</a:t>
            </a:r>
            <a:r>
              <a:rPr lang="en-US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Управление несколькими интерфейсами сокращает фактическое время работы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8175" y="389844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A3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3925" y="3785506"/>
            <a:ext cx="4486275" cy="38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Отсутствие синтеза</a:t>
            </a:r>
            <a:r>
              <a:rPr lang="en-US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Невозможно выявить поведенческие паттерны, характерных для разных инструментов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5288" y="4288971"/>
            <a:ext cx="28575" cy="2362200"/>
          </a:xfrm>
          <a:custGeom>
            <a:avLst/>
            <a:gdLst/>
            <a:ahLst/>
            <a:cxnLst/>
            <a:rect l="l" t="t" r="r" b="b"/>
            <a:pathLst>
              <a:path w="28575" h="2362200">
                <a:moveTo>
                  <a:pt x="0" y="0"/>
                </a:moveTo>
                <a:lnTo>
                  <a:pt x="28575" y="0"/>
                </a:lnTo>
                <a:lnTo>
                  <a:pt x="285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8175" y="42889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1525" y="442232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09674" y="4365171"/>
            <a:ext cx="43243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Отслеживание по уровню поверхности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175" y="4860471"/>
            <a:ext cx="5438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Приложения регистрируют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b="1" dirty="0">
                <a:solidFill>
                  <a:srgbClr val="E0F2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Данные но не справляются с предоставлением аналитических данных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Они отвечают на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»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Что вы делали?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Но не могут ответить: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175" y="5508171"/>
            <a:ext cx="5438775" cy="228600"/>
          </a:xfrm>
          <a:prstGeom prst="rect">
            <a:avLst/>
          </a:prstGeom>
          <a:noFill/>
          <a:ln/>
        </p:spPr>
        <p:txBody>
          <a:bodyPr wrap="square" lIns="19050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"Когда вы наиболее продуктивны?"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175" y="5812971"/>
            <a:ext cx="5438775" cy="228600"/>
          </a:xfrm>
          <a:prstGeom prst="rect">
            <a:avLst/>
          </a:prstGeom>
          <a:noFill/>
          <a:ln/>
        </p:spPr>
        <p:txBody>
          <a:bodyPr wrap="square" lIns="19050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"Какие привычки коррелируют с успехом?"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175" y="6117771"/>
            <a:ext cx="5438775" cy="228600"/>
          </a:xfrm>
          <a:prstGeom prst="rect">
            <a:avLst/>
          </a:prstGeom>
          <a:noFill/>
          <a:ln/>
        </p:spPr>
        <p:txBody>
          <a:bodyPr wrap="square" lIns="19050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"Почему вы проваливаете определенные задания?"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175" y="6422571"/>
            <a:ext cx="5438775" cy="228600"/>
          </a:xfrm>
          <a:prstGeom prst="rect">
            <a:avLst/>
          </a:prstGeom>
          <a:noFill/>
          <a:ln/>
        </p:spPr>
        <p:txBody>
          <a:bodyPr wrap="square" lIns="19050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"Как вы можете оптимизировать свой график работы?"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5538" y="1371600"/>
            <a:ext cx="28575" cy="3086100"/>
          </a:xfrm>
          <a:custGeom>
            <a:avLst/>
            <a:gdLst/>
            <a:ahLst/>
            <a:cxnLst/>
            <a:rect l="l" t="t" r="r" b="b"/>
            <a:pathLst>
              <a:path w="28575" h="3086100">
                <a:moveTo>
                  <a:pt x="0" y="0"/>
                </a:moveTo>
                <a:lnTo>
                  <a:pt x="28575" y="0"/>
                </a:lnTo>
                <a:lnTo>
                  <a:pt x="28575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48425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69869" y="15049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255" y="-9265"/>
                </a:moveTo>
                <a:cubicBezTo>
                  <a:pt x="11757" y="-12762"/>
                  <a:pt x="6102" y="-12762"/>
                  <a:pt x="2642" y="-9265"/>
                </a:cubicBezTo>
                <a:cubicBezTo>
                  <a:pt x="-819" y="-5767"/>
                  <a:pt x="-856" y="-112"/>
                  <a:pt x="2604" y="3386"/>
                </a:cubicBezTo>
                <a:lnTo>
                  <a:pt x="199058" y="199839"/>
                </a:lnTo>
                <a:cubicBezTo>
                  <a:pt x="202555" y="203336"/>
                  <a:pt x="208211" y="203336"/>
                  <a:pt x="211671" y="199839"/>
                </a:cubicBezTo>
                <a:cubicBezTo>
                  <a:pt x="215131" y="196342"/>
                  <a:pt x="215168" y="190686"/>
                  <a:pt x="211671" y="187226"/>
                </a:cubicBezTo>
                <a:lnTo>
                  <a:pt x="115900" y="91418"/>
                </a:lnTo>
                <a:cubicBezTo>
                  <a:pt x="136364" y="87362"/>
                  <a:pt x="151805" y="69279"/>
                  <a:pt x="151805" y="47625"/>
                </a:cubicBezTo>
                <a:cubicBezTo>
                  <a:pt x="151805" y="22957"/>
                  <a:pt x="131825" y="2977"/>
                  <a:pt x="107156" y="2977"/>
                </a:cubicBezTo>
                <a:cubicBezTo>
                  <a:pt x="85502" y="2977"/>
                  <a:pt x="67419" y="18417"/>
                  <a:pt x="63364" y="38881"/>
                </a:cubicBezTo>
                <a:lnTo>
                  <a:pt x="15255" y="-9265"/>
                </a:lnTo>
                <a:close/>
                <a:moveTo>
                  <a:pt x="87660" y="113630"/>
                </a:moveTo>
                <a:cubicBezTo>
                  <a:pt x="55029" y="117797"/>
                  <a:pt x="29766" y="145666"/>
                  <a:pt x="29766" y="179450"/>
                </a:cubicBezTo>
                <a:cubicBezTo>
                  <a:pt x="29766" y="185551"/>
                  <a:pt x="34714" y="190500"/>
                  <a:pt x="40816" y="190500"/>
                </a:cubicBezTo>
                <a:lnTo>
                  <a:pt x="164529" y="190500"/>
                </a:lnTo>
                <a:lnTo>
                  <a:pt x="87660" y="113630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19925" y="1447800"/>
            <a:ext cx="3343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Отсутствие персонализации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8425" y="1943100"/>
            <a:ext cx="5438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 традиционных приложениях применяются универсальные подходы, которые игнорируют индивидуальные различия в: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8425" y="2705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62725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43725" y="2590800"/>
            <a:ext cx="494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Циркадные ритмы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3725" y="2819400"/>
            <a:ext cx="4933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Периоды максимальной производительности варьируются: с 6 утра до 10 утра (30%), с 10 утра до 14:00 (45%), с 14:00 до 18:00 (25%)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48425" y="342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62725" y="3543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43725" y="3314700"/>
            <a:ext cx="494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Временные рамки формирования привычек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43725" y="3543300"/>
            <a:ext cx="4933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Исследования показывают, что привычки формируются за 21-66 дней в зависимости от сложности и индивидуальных факторов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48425" y="4057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81775" y="41719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04775" y="0"/>
                </a:moveTo>
                <a:cubicBezTo>
                  <a:pt x="110044" y="0"/>
                  <a:pt x="114300" y="4256"/>
                  <a:pt x="114300" y="9525"/>
                </a:cubicBezTo>
                <a:cubicBezTo>
                  <a:pt x="114300" y="26730"/>
                  <a:pt x="107037" y="40719"/>
                  <a:pt x="97215" y="52536"/>
                </a:cubicBezTo>
                <a:cubicBezTo>
                  <a:pt x="90041" y="61139"/>
                  <a:pt x="81201" y="68937"/>
                  <a:pt x="72330" y="76200"/>
                </a:cubicBezTo>
                <a:cubicBezTo>
                  <a:pt x="81201" y="83493"/>
                  <a:pt x="90041" y="91261"/>
                  <a:pt x="97215" y="99864"/>
                </a:cubicBezTo>
                <a:cubicBezTo>
                  <a:pt x="107037" y="111651"/>
                  <a:pt x="114300" y="125670"/>
                  <a:pt x="114300" y="142875"/>
                </a:cubicBezTo>
                <a:cubicBezTo>
                  <a:pt x="114300" y="148144"/>
                  <a:pt x="110044" y="152400"/>
                  <a:pt x="104775" y="152400"/>
                </a:cubicBezTo>
                <a:cubicBezTo>
                  <a:pt x="99506" y="152400"/>
                  <a:pt x="95250" y="148144"/>
                  <a:pt x="95250" y="142875"/>
                </a:cubicBezTo>
                <a:lnTo>
                  <a:pt x="19050" y="142875"/>
                </a:lnTo>
                <a:cubicBezTo>
                  <a:pt x="19050" y="148144"/>
                  <a:pt x="14794" y="152400"/>
                  <a:pt x="9525" y="152400"/>
                </a:cubicBezTo>
                <a:cubicBezTo>
                  <a:pt x="4256" y="152400"/>
                  <a:pt x="0" y="148144"/>
                  <a:pt x="0" y="142875"/>
                </a:cubicBezTo>
                <a:cubicBezTo>
                  <a:pt x="0" y="125670"/>
                  <a:pt x="7263" y="111681"/>
                  <a:pt x="17085" y="99864"/>
                </a:cubicBezTo>
                <a:cubicBezTo>
                  <a:pt x="24259" y="91261"/>
                  <a:pt x="33099" y="83493"/>
                  <a:pt x="41970" y="76200"/>
                </a:cubicBezTo>
                <a:cubicBezTo>
                  <a:pt x="33099" y="68907"/>
                  <a:pt x="24259" y="61139"/>
                  <a:pt x="17085" y="52536"/>
                </a:cubicBezTo>
                <a:cubicBezTo>
                  <a:pt x="7263" y="40719"/>
                  <a:pt x="0" y="26730"/>
                  <a:pt x="0" y="9525"/>
                </a:cubicBezTo>
                <a:cubicBezTo>
                  <a:pt x="0" y="4256"/>
                  <a:pt x="4256" y="0"/>
                  <a:pt x="9525" y="0"/>
                </a:cubicBezTo>
                <a:cubicBezTo>
                  <a:pt x="14794" y="0"/>
                  <a:pt x="19050" y="4256"/>
                  <a:pt x="19050" y="9525"/>
                </a:cubicBezTo>
                <a:lnTo>
                  <a:pt x="95250" y="9525"/>
                </a:lnTo>
                <a:cubicBezTo>
                  <a:pt x="95250" y="4256"/>
                  <a:pt x="99506" y="0"/>
                  <a:pt x="104775" y="0"/>
                </a:cubicBezTo>
                <a:close/>
                <a:moveTo>
                  <a:pt x="84386" y="114300"/>
                </a:moveTo>
                <a:lnTo>
                  <a:pt x="29944" y="114300"/>
                </a:lnTo>
                <a:cubicBezTo>
                  <a:pt x="27503" y="117425"/>
                  <a:pt x="25450" y="120581"/>
                  <a:pt x="23813" y="123825"/>
                </a:cubicBezTo>
                <a:lnTo>
                  <a:pt x="90547" y="123825"/>
                </a:lnTo>
                <a:cubicBezTo>
                  <a:pt x="88880" y="120581"/>
                  <a:pt x="86826" y="117425"/>
                  <a:pt x="84415" y="114300"/>
                </a:cubicBezTo>
                <a:close/>
                <a:moveTo>
                  <a:pt x="70842" y="100013"/>
                </a:moveTo>
                <a:cubicBezTo>
                  <a:pt x="66586" y="96143"/>
                  <a:pt x="61972" y="92333"/>
                  <a:pt x="57150" y="88404"/>
                </a:cubicBezTo>
                <a:cubicBezTo>
                  <a:pt x="52328" y="92303"/>
                  <a:pt x="47714" y="96143"/>
                  <a:pt x="43458" y="100013"/>
                </a:cubicBezTo>
                <a:lnTo>
                  <a:pt x="70842" y="100013"/>
                </a:lnTo>
                <a:close/>
                <a:moveTo>
                  <a:pt x="29914" y="38100"/>
                </a:moveTo>
                <a:lnTo>
                  <a:pt x="84356" y="38100"/>
                </a:lnTo>
                <a:cubicBezTo>
                  <a:pt x="86797" y="34975"/>
                  <a:pt x="88850" y="31819"/>
                  <a:pt x="90488" y="28575"/>
                </a:cubicBezTo>
                <a:lnTo>
                  <a:pt x="23783" y="28575"/>
                </a:lnTo>
                <a:cubicBezTo>
                  <a:pt x="25450" y="31819"/>
                  <a:pt x="27503" y="34975"/>
                  <a:pt x="29914" y="38100"/>
                </a:cubicBezTo>
                <a:close/>
                <a:moveTo>
                  <a:pt x="43458" y="52388"/>
                </a:moveTo>
                <a:cubicBezTo>
                  <a:pt x="47714" y="56257"/>
                  <a:pt x="52328" y="60067"/>
                  <a:pt x="57150" y="63996"/>
                </a:cubicBezTo>
                <a:cubicBezTo>
                  <a:pt x="61972" y="60097"/>
                  <a:pt x="66586" y="56257"/>
                  <a:pt x="70842" y="52388"/>
                </a:cubicBezTo>
                <a:lnTo>
                  <a:pt x="43458" y="52388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43725" y="4038600"/>
            <a:ext cx="481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Поведенческие паттерны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43725" y="4267200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Факторы, приводящие к успеху, оптимальная сложность задачи и предпочтения в отношении окружающей среды уникальны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9825" y="5010149"/>
            <a:ext cx="5591175" cy="1641021"/>
          </a:xfrm>
          <a:custGeom>
            <a:avLst/>
            <a:gdLst/>
            <a:ahLst/>
            <a:cxnLst/>
            <a:rect l="l" t="t" r="r" b="b"/>
            <a:pathLst>
              <a:path w="5610225" h="1466850">
                <a:moveTo>
                  <a:pt x="0" y="0"/>
                </a:moveTo>
                <a:lnTo>
                  <a:pt x="5610225" y="0"/>
                </a:lnTo>
                <a:lnTo>
                  <a:pt x="5610225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00775" y="5010150"/>
            <a:ext cx="19050" cy="1466850"/>
          </a:xfrm>
          <a:custGeom>
            <a:avLst/>
            <a:gdLst/>
            <a:ahLst/>
            <a:cxnLst/>
            <a:rect l="l" t="t" r="r" b="b"/>
            <a:pathLst>
              <a:path w="19050" h="1466850">
                <a:moveTo>
                  <a:pt x="0" y="0"/>
                </a:moveTo>
                <a:lnTo>
                  <a:pt x="19050" y="0"/>
                </a:lnTo>
                <a:lnTo>
                  <a:pt x="1905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57950" y="5200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00850" y="5200650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35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Разрыв в интеллекте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00850" y="5543550"/>
            <a:ext cx="48958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Актуальные приложения фиксируются на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что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пользователи делают, но не могут понять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почему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они это делают и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как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можно улучшить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ProductiveSocial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устраняет этот пробел, обобщая данные в полезную поведенческую аналитику.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1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419100"/>
            <a:ext cx="6067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$29</a:t>
            </a:r>
            <a:r>
              <a:rPr lang="ru-RU" sz="27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млрд</a:t>
            </a:r>
            <a:r>
              <a:rPr lang="en-US" sz="27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ru-RU" sz="27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рынка продуктивности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288" y="1409700"/>
            <a:ext cx="28575" cy="2457450"/>
          </a:xfrm>
          <a:custGeom>
            <a:avLst/>
            <a:gdLst/>
            <a:ahLst/>
            <a:cxnLst/>
            <a:rect l="l" t="t" r="r" b="b"/>
            <a:pathLst>
              <a:path w="28575" h="2457450">
                <a:moveTo>
                  <a:pt x="0" y="0"/>
                </a:moveTo>
                <a:lnTo>
                  <a:pt x="28575" y="0"/>
                </a:lnTo>
                <a:lnTo>
                  <a:pt x="28575" y="2457450"/>
                </a:lnTo>
                <a:lnTo>
                  <a:pt x="0" y="24574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8175" y="140970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050" b="1" kern="0" spc="53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РАЗМЕР И РОСТ РЫНКА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8175" y="16764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5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Рыночный взрыв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8175" y="2038350"/>
            <a:ext cx="54387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Рынок приложений для производительности переживает беспрецедентный рост, однако, несмотря на массовое привлечение пользователей, </a:t>
            </a:r>
            <a:r>
              <a:rPr lang="en-US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пользователей отказываются от приложений после бесплатных пробных версий,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что создает критическую ситуацию с удержанием пользователей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8175" y="2990850"/>
            <a:ext cx="2628900" cy="876300"/>
          </a:xfrm>
          <a:custGeom>
            <a:avLst/>
            <a:gdLst/>
            <a:ahLst/>
            <a:cxnLst/>
            <a:rect l="l" t="t" r="r" b="b"/>
            <a:pathLst>
              <a:path w="2628900" h="876300">
                <a:moveTo>
                  <a:pt x="0" y="0"/>
                </a:moveTo>
                <a:lnTo>
                  <a:pt x="2628900" y="0"/>
                </a:lnTo>
                <a:lnTo>
                  <a:pt x="26289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9138" y="3143250"/>
            <a:ext cx="2466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$12.26B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7238" y="352425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Market Value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76613" y="2990850"/>
            <a:ext cx="2628900" cy="876300"/>
          </a:xfrm>
          <a:custGeom>
            <a:avLst/>
            <a:gdLst/>
            <a:ahLst/>
            <a:cxnLst/>
            <a:rect l="l" t="t" r="r" b="b"/>
            <a:pathLst>
              <a:path w="2628900" h="876300">
                <a:moveTo>
                  <a:pt x="0" y="0"/>
                </a:moveTo>
                <a:lnTo>
                  <a:pt x="2628900" y="0"/>
                </a:lnTo>
                <a:lnTo>
                  <a:pt x="26289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57575" y="3143250"/>
            <a:ext cx="2466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$29.56B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95675" y="352425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2035 Projection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5538" y="1409700"/>
            <a:ext cx="28575" cy="3009900"/>
          </a:xfrm>
          <a:custGeom>
            <a:avLst/>
            <a:gdLst/>
            <a:ahLst/>
            <a:cxnLst/>
            <a:rect l="l" t="t" r="r" b="b"/>
            <a:pathLst>
              <a:path w="28575" h="3009900">
                <a:moveTo>
                  <a:pt x="0" y="0"/>
                </a:moveTo>
                <a:lnTo>
                  <a:pt x="28575" y="0"/>
                </a:lnTo>
                <a:lnTo>
                  <a:pt x="2857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48425" y="140970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E0F2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GAPS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0934" y="22104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6479040" y="229620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8341" y="0"/>
                </a:moveTo>
                <a:cubicBezTo>
                  <a:pt x="67534" y="0"/>
                  <a:pt x="75009" y="5600"/>
                  <a:pt x="75009" y="12502"/>
                </a:cubicBezTo>
                <a:cubicBezTo>
                  <a:pt x="75009" y="15210"/>
                  <a:pt x="73863" y="17711"/>
                  <a:pt x="71884" y="19768"/>
                </a:cubicBezTo>
                <a:cubicBezTo>
                  <a:pt x="70165" y="21565"/>
                  <a:pt x="68759" y="23753"/>
                  <a:pt x="68759" y="26253"/>
                </a:cubicBezTo>
                <a:cubicBezTo>
                  <a:pt x="68759" y="30160"/>
                  <a:pt x="71936" y="33337"/>
                  <a:pt x="75843" y="33337"/>
                </a:cubicBezTo>
                <a:lnTo>
                  <a:pt x="87511" y="33337"/>
                </a:lnTo>
                <a:cubicBezTo>
                  <a:pt x="94413" y="33337"/>
                  <a:pt x="100013" y="38937"/>
                  <a:pt x="100013" y="45839"/>
                </a:cubicBezTo>
                <a:lnTo>
                  <a:pt x="100013" y="57507"/>
                </a:lnTo>
                <a:cubicBezTo>
                  <a:pt x="100013" y="61414"/>
                  <a:pt x="103190" y="64591"/>
                  <a:pt x="107097" y="64591"/>
                </a:cubicBezTo>
                <a:cubicBezTo>
                  <a:pt x="109571" y="64591"/>
                  <a:pt x="111785" y="63185"/>
                  <a:pt x="113582" y="61466"/>
                </a:cubicBezTo>
                <a:cubicBezTo>
                  <a:pt x="115639" y="59513"/>
                  <a:pt x="118140" y="58341"/>
                  <a:pt x="120848" y="58341"/>
                </a:cubicBezTo>
                <a:cubicBezTo>
                  <a:pt x="127750" y="58341"/>
                  <a:pt x="133350" y="65816"/>
                  <a:pt x="133350" y="75009"/>
                </a:cubicBezTo>
                <a:cubicBezTo>
                  <a:pt x="133350" y="84203"/>
                  <a:pt x="127750" y="91678"/>
                  <a:pt x="120848" y="91678"/>
                </a:cubicBezTo>
                <a:cubicBezTo>
                  <a:pt x="118140" y="91678"/>
                  <a:pt x="115613" y="90532"/>
                  <a:pt x="113582" y="88553"/>
                </a:cubicBezTo>
                <a:cubicBezTo>
                  <a:pt x="111785" y="86834"/>
                  <a:pt x="109597" y="85427"/>
                  <a:pt x="107097" y="85427"/>
                </a:cubicBezTo>
                <a:cubicBezTo>
                  <a:pt x="103190" y="85427"/>
                  <a:pt x="100013" y="88605"/>
                  <a:pt x="100013" y="92512"/>
                </a:cubicBezTo>
                <a:lnTo>
                  <a:pt x="100013" y="120848"/>
                </a:lnTo>
                <a:cubicBezTo>
                  <a:pt x="100013" y="127750"/>
                  <a:pt x="94413" y="133350"/>
                  <a:pt x="87511" y="133350"/>
                </a:cubicBezTo>
                <a:lnTo>
                  <a:pt x="72717" y="133350"/>
                </a:lnTo>
                <a:cubicBezTo>
                  <a:pt x="69384" y="133350"/>
                  <a:pt x="66675" y="130641"/>
                  <a:pt x="66675" y="127308"/>
                </a:cubicBezTo>
                <a:cubicBezTo>
                  <a:pt x="66675" y="124911"/>
                  <a:pt x="68186" y="122802"/>
                  <a:pt x="70113" y="121369"/>
                </a:cubicBezTo>
                <a:cubicBezTo>
                  <a:pt x="73134" y="119103"/>
                  <a:pt x="75009" y="115978"/>
                  <a:pt x="75009" y="112514"/>
                </a:cubicBezTo>
                <a:cubicBezTo>
                  <a:pt x="75009" y="105612"/>
                  <a:pt x="67534" y="100013"/>
                  <a:pt x="58341" y="100013"/>
                </a:cubicBezTo>
                <a:cubicBezTo>
                  <a:pt x="49147" y="100013"/>
                  <a:pt x="41672" y="105612"/>
                  <a:pt x="41672" y="112514"/>
                </a:cubicBezTo>
                <a:cubicBezTo>
                  <a:pt x="41672" y="115978"/>
                  <a:pt x="43547" y="119103"/>
                  <a:pt x="46568" y="121369"/>
                </a:cubicBezTo>
                <a:cubicBezTo>
                  <a:pt x="48496" y="122802"/>
                  <a:pt x="50006" y="124885"/>
                  <a:pt x="50006" y="127308"/>
                </a:cubicBezTo>
                <a:cubicBezTo>
                  <a:pt x="50006" y="130641"/>
                  <a:pt x="47298" y="133350"/>
                  <a:pt x="43964" y="133350"/>
                </a:cubicBezTo>
                <a:lnTo>
                  <a:pt x="12502" y="133350"/>
                </a:lnTo>
                <a:cubicBezTo>
                  <a:pt x="5600" y="133350"/>
                  <a:pt x="0" y="127750"/>
                  <a:pt x="0" y="120848"/>
                </a:cubicBezTo>
                <a:lnTo>
                  <a:pt x="0" y="89386"/>
                </a:lnTo>
                <a:cubicBezTo>
                  <a:pt x="0" y="86052"/>
                  <a:pt x="2709" y="83344"/>
                  <a:pt x="6042" y="83344"/>
                </a:cubicBezTo>
                <a:cubicBezTo>
                  <a:pt x="8439" y="83344"/>
                  <a:pt x="10548" y="84854"/>
                  <a:pt x="11981" y="86782"/>
                </a:cubicBezTo>
                <a:cubicBezTo>
                  <a:pt x="14247" y="89803"/>
                  <a:pt x="17372" y="91678"/>
                  <a:pt x="20836" y="91678"/>
                </a:cubicBezTo>
                <a:cubicBezTo>
                  <a:pt x="27738" y="91678"/>
                  <a:pt x="33337" y="84203"/>
                  <a:pt x="33337" y="75009"/>
                </a:cubicBezTo>
                <a:cubicBezTo>
                  <a:pt x="33337" y="65816"/>
                  <a:pt x="27738" y="58341"/>
                  <a:pt x="20836" y="58341"/>
                </a:cubicBezTo>
                <a:cubicBezTo>
                  <a:pt x="17372" y="58341"/>
                  <a:pt x="14247" y="60216"/>
                  <a:pt x="11981" y="63237"/>
                </a:cubicBezTo>
                <a:cubicBezTo>
                  <a:pt x="10548" y="65164"/>
                  <a:pt x="8465" y="66675"/>
                  <a:pt x="6042" y="66675"/>
                </a:cubicBezTo>
                <a:cubicBezTo>
                  <a:pt x="2709" y="66675"/>
                  <a:pt x="0" y="63966"/>
                  <a:pt x="0" y="60633"/>
                </a:cubicBezTo>
                <a:lnTo>
                  <a:pt x="0" y="45839"/>
                </a:lnTo>
                <a:cubicBezTo>
                  <a:pt x="0" y="38937"/>
                  <a:pt x="5600" y="33337"/>
                  <a:pt x="12502" y="33337"/>
                </a:cubicBezTo>
                <a:lnTo>
                  <a:pt x="40838" y="33337"/>
                </a:lnTo>
                <a:cubicBezTo>
                  <a:pt x="44745" y="33337"/>
                  <a:pt x="47923" y="30160"/>
                  <a:pt x="47923" y="26253"/>
                </a:cubicBezTo>
                <a:cubicBezTo>
                  <a:pt x="47923" y="23779"/>
                  <a:pt x="46516" y="21565"/>
                  <a:pt x="44797" y="19768"/>
                </a:cubicBezTo>
                <a:cubicBezTo>
                  <a:pt x="42844" y="17711"/>
                  <a:pt x="41672" y="15210"/>
                  <a:pt x="41672" y="12502"/>
                </a:cubicBezTo>
                <a:cubicBezTo>
                  <a:pt x="41672" y="5600"/>
                  <a:pt x="49147" y="0"/>
                  <a:pt x="58341" y="0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6810034" y="1610066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2000" dirty="0">
                <a:solidFill>
                  <a:schemeClr val="bg1"/>
                </a:solidFill>
              </a:rPr>
              <a:t>Фрагментация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10034" y="2094818"/>
            <a:ext cx="3905250" cy="57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Пользователи используют более чем 4-мя разрозненными инструментами без единой информации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390934" y="31245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6479040" y="321026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6810034" y="2845595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6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Отслеживание по уровню поверхности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810034" y="3058460"/>
            <a:ext cx="4552950" cy="66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Регистрируйте данные без поведенческого анализа или интеллектуальных рекомендаций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434138" y="39627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8" name="Shape 36"/>
          <p:cNvSpPr/>
          <p:nvPr/>
        </p:nvSpPr>
        <p:spPr>
          <a:xfrm>
            <a:off x="6513910" y="4048467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678" y="-6485"/>
                </a:moveTo>
                <a:cubicBezTo>
                  <a:pt x="8230" y="-8933"/>
                  <a:pt x="4271" y="-8933"/>
                  <a:pt x="1849" y="-6485"/>
                </a:cubicBezTo>
                <a:cubicBezTo>
                  <a:pt x="-573" y="-4037"/>
                  <a:pt x="-599" y="-78"/>
                  <a:pt x="1823" y="2370"/>
                </a:cubicBezTo>
                <a:lnTo>
                  <a:pt x="139340" y="139887"/>
                </a:lnTo>
                <a:cubicBezTo>
                  <a:pt x="141789" y="142335"/>
                  <a:pt x="145747" y="142335"/>
                  <a:pt x="148170" y="139887"/>
                </a:cubicBezTo>
                <a:cubicBezTo>
                  <a:pt x="150592" y="137439"/>
                  <a:pt x="150618" y="133480"/>
                  <a:pt x="148170" y="131058"/>
                </a:cubicBezTo>
                <a:lnTo>
                  <a:pt x="81130" y="63992"/>
                </a:lnTo>
                <a:cubicBezTo>
                  <a:pt x="95455" y="61153"/>
                  <a:pt x="106263" y="48496"/>
                  <a:pt x="106263" y="33337"/>
                </a:cubicBezTo>
                <a:cubicBezTo>
                  <a:pt x="106263" y="16070"/>
                  <a:pt x="92277" y="2084"/>
                  <a:pt x="75009" y="2084"/>
                </a:cubicBezTo>
                <a:cubicBezTo>
                  <a:pt x="59851" y="2084"/>
                  <a:pt x="47193" y="12892"/>
                  <a:pt x="44355" y="27217"/>
                </a:cubicBezTo>
                <a:lnTo>
                  <a:pt x="10678" y="-6485"/>
                </a:lnTo>
                <a:close/>
                <a:moveTo>
                  <a:pt x="61362" y="79541"/>
                </a:moveTo>
                <a:cubicBezTo>
                  <a:pt x="38520" y="82458"/>
                  <a:pt x="20836" y="101966"/>
                  <a:pt x="20836" y="125615"/>
                </a:cubicBezTo>
                <a:cubicBezTo>
                  <a:pt x="20836" y="129886"/>
                  <a:pt x="24300" y="133350"/>
                  <a:pt x="28571" y="133350"/>
                </a:cubicBezTo>
                <a:lnTo>
                  <a:pt x="115171" y="133350"/>
                </a:lnTo>
                <a:lnTo>
                  <a:pt x="61362" y="79541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6810034" y="3719853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6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Отсутствие персонализации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810034" y="4010366"/>
            <a:ext cx="3676650" cy="553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Универсальные подходы не учитывают индивидуальные особенности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3367087" y="4914901"/>
            <a:ext cx="5610225" cy="1466850"/>
          </a:xfrm>
          <a:custGeom>
            <a:avLst/>
            <a:gdLst/>
            <a:ahLst/>
            <a:cxnLst/>
            <a:rect l="l" t="t" r="r" b="b"/>
            <a:pathLst>
              <a:path w="5610225" h="1466850">
                <a:moveTo>
                  <a:pt x="0" y="0"/>
                </a:moveTo>
                <a:lnTo>
                  <a:pt x="5610225" y="0"/>
                </a:lnTo>
                <a:lnTo>
                  <a:pt x="5610225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438525" y="4914901"/>
            <a:ext cx="19050" cy="1466850"/>
          </a:xfrm>
          <a:custGeom>
            <a:avLst/>
            <a:gdLst/>
            <a:ahLst/>
            <a:cxnLst/>
            <a:rect l="l" t="t" r="r" b="b"/>
            <a:pathLst>
              <a:path w="19050" h="1466850">
                <a:moveTo>
                  <a:pt x="0" y="0"/>
                </a:moveTo>
                <a:lnTo>
                  <a:pt x="19050" y="0"/>
                </a:lnTo>
                <a:lnTo>
                  <a:pt x="1905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61682" y="5105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914434" y="5064580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35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Возможность</a:t>
            </a:r>
            <a:r>
              <a:rPr lang="en-US" sz="135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ProductiveSocial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661682" y="5455106"/>
            <a:ext cx="49434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мощный инструмент повышения производительности "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все в одном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 и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социальная сеть.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ru-RU" sz="27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Три фактора, влияющие на производительность труда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5288" y="1333500"/>
            <a:ext cx="28575" cy="2438400"/>
          </a:xfrm>
          <a:custGeom>
            <a:avLst/>
            <a:gdLst/>
            <a:ahLst/>
            <a:cxnLst/>
            <a:rect l="l" t="t" r="r" b="b"/>
            <a:pathLst>
              <a:path w="28575" h="2438400">
                <a:moveTo>
                  <a:pt x="0" y="0"/>
                </a:moveTo>
                <a:lnTo>
                  <a:pt x="28575" y="0"/>
                </a:lnTo>
                <a:lnTo>
                  <a:pt x="28575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8175" y="1333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0575" y="148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3975" y="1352550"/>
            <a:ext cx="69342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Персонализация, управляемая искусственным интеллектом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3975" y="165735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FORCE 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8175" y="2019300"/>
            <a:ext cx="3762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8175" y="2438400"/>
            <a:ext cx="3686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многие рабочие приложения будут внедрять искусственный интеллект к 2028 году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8175" y="2764970"/>
            <a:ext cx="3695700" cy="77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400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Интеллектуальная автоматизация задач, лежащая в основе выбора программного обеспечения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13200" y="2019300"/>
            <a:ext cx="3762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13200" y="2438400"/>
            <a:ext cx="3686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Количество корпоративных лицензий </a:t>
            </a: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</a:t>
            </a:r>
            <a:r>
              <a:rPr lang="ru-RU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увеличилось в годовом исчислении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8226" y="2019300"/>
            <a:ext cx="3762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8226" y="2438400"/>
            <a:ext cx="3686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 списка </a:t>
            </a: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Fortune 500 </a:t>
            </a:r>
            <a:r>
              <a:rPr lang="ru-RU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приняли </a:t>
            </a: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Copilot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62925" y="2837088"/>
            <a:ext cx="3695700" cy="782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400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Демонстрация стремления предприятий к повышению производительности с помощью искусственного интеллекта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95288" y="3962400"/>
            <a:ext cx="28575" cy="2552700"/>
          </a:xfrm>
          <a:custGeom>
            <a:avLst/>
            <a:gdLst/>
            <a:ahLst/>
            <a:cxnLst/>
            <a:rect l="l" t="t" r="r" b="b"/>
            <a:pathLst>
              <a:path w="28575" h="2552700">
                <a:moveTo>
                  <a:pt x="0" y="0"/>
                </a:moveTo>
                <a:lnTo>
                  <a:pt x="28575" y="0"/>
                </a:lnTo>
                <a:lnTo>
                  <a:pt x="28575" y="2552700"/>
                </a:lnTo>
                <a:lnTo>
                  <a:pt x="0" y="2552700"/>
                </a:lnTo>
                <a:lnTo>
                  <a:pt x="0" y="0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8175" y="3962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0575" y="4114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23975" y="3981450"/>
            <a:ext cx="43406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Доказанные результаты геймификации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3975" y="428625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F2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FORCE 02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175" y="4705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3425" y="48196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33474" y="4593771"/>
            <a:ext cx="406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err="1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Habitica</a:t>
            </a:r>
            <a:r>
              <a:rPr lang="en-US" sz="135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35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исследование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33474" y="4914900"/>
            <a:ext cx="443388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1.1M+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пользователей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30% higher retention than traditional to-do apps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8175" y="5314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2000" y="5429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-9525"/>
                </a:moveTo>
                <a:cubicBezTo>
                  <a:pt x="68759" y="-9525"/>
                  <a:pt x="70753" y="-8602"/>
                  <a:pt x="72122" y="-6995"/>
                </a:cubicBezTo>
                <a:lnTo>
                  <a:pt x="112603" y="40630"/>
                </a:lnTo>
                <a:cubicBezTo>
                  <a:pt x="114419" y="42743"/>
                  <a:pt x="114806" y="45720"/>
                  <a:pt x="113645" y="48250"/>
                </a:cubicBezTo>
                <a:cubicBezTo>
                  <a:pt x="112484" y="50780"/>
                  <a:pt x="109954" y="52388"/>
                  <a:pt x="107156" y="52388"/>
                </a:cubicBezTo>
                <a:lnTo>
                  <a:pt x="99745" y="52388"/>
                </a:lnTo>
                <a:lnTo>
                  <a:pt x="122128" y="78730"/>
                </a:lnTo>
                <a:cubicBezTo>
                  <a:pt x="123944" y="80843"/>
                  <a:pt x="124331" y="83820"/>
                  <a:pt x="123170" y="86350"/>
                </a:cubicBezTo>
                <a:cubicBezTo>
                  <a:pt x="122009" y="88880"/>
                  <a:pt x="119479" y="90488"/>
                  <a:pt x="116681" y="90488"/>
                </a:cubicBezTo>
                <a:lnTo>
                  <a:pt x="105221" y="90488"/>
                </a:lnTo>
                <a:lnTo>
                  <a:pt x="131653" y="121593"/>
                </a:lnTo>
                <a:cubicBezTo>
                  <a:pt x="133469" y="123706"/>
                  <a:pt x="133856" y="126683"/>
                  <a:pt x="132695" y="129213"/>
                </a:cubicBezTo>
                <a:cubicBezTo>
                  <a:pt x="131534" y="131743"/>
                  <a:pt x="129004" y="133350"/>
                  <a:pt x="126206" y="133350"/>
                </a:cubicBezTo>
                <a:lnTo>
                  <a:pt x="76200" y="133350"/>
                </a:lnTo>
                <a:lnTo>
                  <a:pt x="76200" y="152400"/>
                </a:lnTo>
                <a:cubicBezTo>
                  <a:pt x="76200" y="157669"/>
                  <a:pt x="71944" y="161925"/>
                  <a:pt x="66675" y="161925"/>
                </a:cubicBezTo>
                <a:cubicBezTo>
                  <a:pt x="61406" y="161925"/>
                  <a:pt x="57150" y="157669"/>
                  <a:pt x="57150" y="152400"/>
                </a:cubicBezTo>
                <a:lnTo>
                  <a:pt x="57150" y="133350"/>
                </a:lnTo>
                <a:lnTo>
                  <a:pt x="7144" y="133350"/>
                </a:lnTo>
                <a:cubicBezTo>
                  <a:pt x="4346" y="133350"/>
                  <a:pt x="1816" y="131743"/>
                  <a:pt x="655" y="129213"/>
                </a:cubicBezTo>
                <a:cubicBezTo>
                  <a:pt x="-506" y="126683"/>
                  <a:pt x="-119" y="123706"/>
                  <a:pt x="1697" y="121593"/>
                </a:cubicBezTo>
                <a:lnTo>
                  <a:pt x="28129" y="90488"/>
                </a:lnTo>
                <a:lnTo>
                  <a:pt x="16669" y="90488"/>
                </a:lnTo>
                <a:cubicBezTo>
                  <a:pt x="13871" y="90488"/>
                  <a:pt x="11341" y="88880"/>
                  <a:pt x="10180" y="86350"/>
                </a:cubicBezTo>
                <a:cubicBezTo>
                  <a:pt x="9019" y="83820"/>
                  <a:pt x="9406" y="80843"/>
                  <a:pt x="11222" y="78730"/>
                </a:cubicBezTo>
                <a:lnTo>
                  <a:pt x="33605" y="52388"/>
                </a:lnTo>
                <a:lnTo>
                  <a:pt x="26194" y="52388"/>
                </a:lnTo>
                <a:cubicBezTo>
                  <a:pt x="23396" y="52388"/>
                  <a:pt x="20866" y="50780"/>
                  <a:pt x="19705" y="48250"/>
                </a:cubicBezTo>
                <a:cubicBezTo>
                  <a:pt x="18544" y="45720"/>
                  <a:pt x="18931" y="42743"/>
                  <a:pt x="20747" y="40630"/>
                </a:cubicBezTo>
                <a:lnTo>
                  <a:pt x="61228" y="-6995"/>
                </a:lnTo>
                <a:cubicBezTo>
                  <a:pt x="62597" y="-8602"/>
                  <a:pt x="64591" y="-9525"/>
                  <a:pt x="66675" y="-9525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33475" y="5257800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Forest App </a:t>
            </a:r>
            <a:r>
              <a:rPr lang="ru-RU" sz="135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Успех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3475" y="5524500"/>
            <a:ext cx="47958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4.5M+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сосредоточенные часы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регистрация с помощью геймификации по посадке деревьев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174" y="6019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52474" y="6134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33474" y="5962650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35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Влияние геймификации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33474" y="6229350"/>
            <a:ext cx="42195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Исследование Стэнфордского университета: геймификация повышает вовлеченность на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05538" y="3962400"/>
            <a:ext cx="52389" cy="1295400"/>
          </a:xfrm>
          <a:custGeom>
            <a:avLst/>
            <a:gdLst/>
            <a:ahLst/>
            <a:cxnLst/>
            <a:rect l="l" t="t" r="r" b="b"/>
            <a:pathLst>
              <a:path w="28575" h="2552700">
                <a:moveTo>
                  <a:pt x="0" y="0"/>
                </a:moveTo>
                <a:lnTo>
                  <a:pt x="28575" y="0"/>
                </a:lnTo>
                <a:lnTo>
                  <a:pt x="28575" y="2552700"/>
                </a:lnTo>
                <a:lnTo>
                  <a:pt x="0" y="2552700"/>
                </a:lnTo>
                <a:lnTo>
                  <a:pt x="0" y="0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48425" y="3962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86538" y="4114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34225" y="3981450"/>
            <a:ext cx="2105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Demand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34225" y="4286250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F2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FORCE 03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10327" y="4714875"/>
            <a:ext cx="3695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wanting unified platforms</a:t>
            </a: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1218539" y="4791075"/>
            <a:ext cx="695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68%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ru-RU" sz="27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Анализ конкурентного ландшафта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763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Уникальное положение </a:t>
            </a:r>
            <a:r>
              <a:rPr lang="en-US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ProductiveSocial </a:t>
            </a:r>
            <a:r>
              <a:rPr lang="ru-RU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 экосистеме приложений для повышения производительности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95288" y="1338943"/>
            <a:ext cx="28575" cy="3124200"/>
          </a:xfrm>
          <a:custGeom>
            <a:avLst/>
            <a:gdLst/>
            <a:ahLst/>
            <a:cxnLst/>
            <a:rect l="l" t="t" r="r" b="b"/>
            <a:pathLst>
              <a:path w="28575" h="3124200">
                <a:moveTo>
                  <a:pt x="0" y="0"/>
                </a:moveTo>
                <a:lnTo>
                  <a:pt x="28575" y="0"/>
                </a:lnTo>
                <a:lnTo>
                  <a:pt x="28575" y="3124200"/>
                </a:lnTo>
                <a:lnTo>
                  <a:pt x="0" y="312420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1975" y="1338943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5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Конкурентный анализ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1975" y="1719943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Habitica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62338" y="1768929"/>
            <a:ext cx="2093458" cy="20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Социальная геймификация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561975" y="1986643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RPG mechanics, 1.1M users, limited AI/analytics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61975" y="2291443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Forest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62338" y="2329542"/>
            <a:ext cx="2093458" cy="20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Таймер фокусировки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561975" y="2558143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4.5M+ hours, basic analytics, single-feature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61975" y="2862943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462338" y="2895600"/>
            <a:ext cx="19542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Гибкое рабочее пространство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561975" y="3129643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Customizable, manual tracking, no AI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61975" y="3434443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Todoist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462338" y="3396343"/>
            <a:ext cx="1648527" cy="198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Управление задачами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561975" y="3701143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AI scheduling, limited behavioral insights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61975" y="4005943"/>
            <a:ext cx="60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TickTick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462338" y="3962946"/>
            <a:ext cx="2023382" cy="252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Интегрированные функции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561975" y="4272643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Pomodoro + tasks, limited analytics depth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90524" y="4577443"/>
            <a:ext cx="5313590" cy="1390650"/>
          </a:xfrm>
          <a:custGeom>
            <a:avLst/>
            <a:gdLst/>
            <a:ahLst/>
            <a:cxnLst/>
            <a:rect l="l" t="t" r="r" b="b"/>
            <a:pathLst>
              <a:path w="3676650" h="1390650">
                <a:moveTo>
                  <a:pt x="0" y="0"/>
                </a:moveTo>
                <a:lnTo>
                  <a:pt x="3676650" y="0"/>
                </a:lnTo>
                <a:lnTo>
                  <a:pt x="367665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90525" y="4577443"/>
            <a:ext cx="19050" cy="1390650"/>
          </a:xfrm>
          <a:custGeom>
            <a:avLst/>
            <a:gdLst/>
            <a:ahLst/>
            <a:cxnLst/>
            <a:rect l="l" t="t" r="r" b="b"/>
            <a:pathLst>
              <a:path w="19050" h="1390650">
                <a:moveTo>
                  <a:pt x="0" y="0"/>
                </a:moveTo>
                <a:lnTo>
                  <a:pt x="19050" y="0"/>
                </a:lnTo>
                <a:lnTo>
                  <a:pt x="1905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52450" y="4729843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ProductiveSocial</a:t>
            </a:r>
            <a:r>
              <a:rPr lang="ru-RU" sz="135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преимущество 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52450" y="5072743"/>
            <a:ext cx="500334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Уникальное положение</a:t>
            </a:r>
            <a:r>
              <a:rPr lang="en-US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как единственная платформа, сочетающая интеграцию на уровне экосистемы с поведенческим интеллектом на базе искусственного интеллекта и социальной механикой.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81000" y="6082393"/>
            <a:ext cx="1800225" cy="571500"/>
          </a:xfrm>
          <a:custGeom>
            <a:avLst/>
            <a:gdLst/>
            <a:ahLst/>
            <a:cxnLst/>
            <a:rect l="l" t="t" r="r" b="b"/>
            <a:pathLst>
              <a:path w="1800225" h="571500">
                <a:moveTo>
                  <a:pt x="0" y="0"/>
                </a:moveTo>
                <a:lnTo>
                  <a:pt x="1800225" y="0"/>
                </a:lnTo>
                <a:lnTo>
                  <a:pt x="18002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81000" y="6253843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</a:t>
            </a:r>
            <a:r>
              <a:rPr lang="ru-RU" sz="20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</a:t>
            </a:r>
            <a:r>
              <a:rPr lang="en-US" sz="20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</a:t>
            </a:r>
            <a:endParaRPr lang="en-US" sz="2400" dirty="0"/>
          </a:p>
        </p:txBody>
      </p:sp>
      <p:sp>
        <p:nvSpPr>
          <p:cNvPr id="36" name="Shape 33"/>
          <p:cNvSpPr/>
          <p:nvPr/>
        </p:nvSpPr>
        <p:spPr>
          <a:xfrm>
            <a:off x="2260551" y="6082393"/>
            <a:ext cx="2681563" cy="571500"/>
          </a:xfrm>
          <a:custGeom>
            <a:avLst/>
            <a:gdLst/>
            <a:ahLst/>
            <a:cxnLst/>
            <a:rect l="l" t="t" r="r" b="b"/>
            <a:pathLst>
              <a:path w="1800225" h="571500">
                <a:moveTo>
                  <a:pt x="0" y="0"/>
                </a:moveTo>
                <a:lnTo>
                  <a:pt x="1800225" y="0"/>
                </a:lnTo>
                <a:lnTo>
                  <a:pt x="18002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729794" y="6086476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2308176" y="6384472"/>
            <a:ext cx="2633938" cy="193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ru-RU" sz="1400" dirty="0">
                <a:solidFill>
                  <a:schemeClr val="bg1"/>
                </a:solidFill>
              </a:rPr>
              <a:t>Поведенческий анализ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ru-RU" sz="27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Пять интегрированных компонентов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763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Легко подключаемые инструменты, формирующие единую производительную экосистему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5288" y="1333499"/>
            <a:ext cx="45719" cy="2496911"/>
          </a:xfrm>
          <a:custGeom>
            <a:avLst/>
            <a:gdLst/>
            <a:ahLst/>
            <a:cxnLst/>
            <a:rect l="l" t="t" r="r" b="b"/>
            <a:pathLst>
              <a:path w="28575" h="3486150">
                <a:moveTo>
                  <a:pt x="0" y="0"/>
                </a:moveTo>
                <a:lnTo>
                  <a:pt x="28575" y="0"/>
                </a:lnTo>
                <a:lnTo>
                  <a:pt x="28575" y="3486150"/>
                </a:lnTo>
                <a:lnTo>
                  <a:pt x="0" y="34861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1975" y="133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5325" y="146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1975" y="1905000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5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Управление целями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1975" y="2305050"/>
            <a:ext cx="20574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Высокоуровневые цели с визуализацией прогресса и отслеживанием основных этапов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711648" y="1333500"/>
            <a:ext cx="45719" cy="2496911"/>
          </a:xfrm>
          <a:custGeom>
            <a:avLst/>
            <a:gdLst/>
            <a:ahLst/>
            <a:cxnLst/>
            <a:rect l="l" t="t" r="r" b="b"/>
            <a:pathLst>
              <a:path w="28575" h="3486150">
                <a:moveTo>
                  <a:pt x="0" y="0"/>
                </a:moveTo>
                <a:lnTo>
                  <a:pt x="28575" y="0"/>
                </a:lnTo>
                <a:lnTo>
                  <a:pt x="28575" y="3486150"/>
                </a:lnTo>
                <a:lnTo>
                  <a:pt x="0" y="34861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78336" y="133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11686" y="146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2483" y="27794"/>
                </a:moveTo>
                <a:lnTo>
                  <a:pt x="166688" y="31775"/>
                </a:lnTo>
                <a:lnTo>
                  <a:pt x="166688" y="11906"/>
                </a:lnTo>
                <a:cubicBezTo>
                  <a:pt x="166688" y="5321"/>
                  <a:pt x="172008" y="0"/>
                  <a:pt x="178594" y="0"/>
                </a:cubicBezTo>
                <a:cubicBezTo>
                  <a:pt x="185179" y="0"/>
                  <a:pt x="190500" y="5321"/>
                  <a:pt x="190500" y="11906"/>
                </a:cubicBezTo>
                <a:lnTo>
                  <a:pt x="190500" y="59531"/>
                </a:lnTo>
                <a:cubicBezTo>
                  <a:pt x="190500" y="66117"/>
                  <a:pt x="185179" y="71438"/>
                  <a:pt x="178594" y="71438"/>
                </a:cubicBezTo>
                <a:lnTo>
                  <a:pt x="130969" y="71438"/>
                </a:lnTo>
                <a:cubicBezTo>
                  <a:pt x="124383" y="71438"/>
                  <a:pt x="119063" y="66117"/>
                  <a:pt x="119063" y="59531"/>
                </a:cubicBezTo>
                <a:cubicBezTo>
                  <a:pt x="119063" y="52946"/>
                  <a:pt x="124383" y="47625"/>
                  <a:pt x="130969" y="47625"/>
                </a:cubicBezTo>
                <a:lnTo>
                  <a:pt x="148791" y="47625"/>
                </a:lnTo>
                <a:lnTo>
                  <a:pt x="145963" y="44946"/>
                </a:lnTo>
                <a:cubicBezTo>
                  <a:pt x="145889" y="44872"/>
                  <a:pt x="145814" y="44797"/>
                  <a:pt x="145740" y="44723"/>
                </a:cubicBezTo>
                <a:cubicBezTo>
                  <a:pt x="117835" y="16818"/>
                  <a:pt x="72628" y="16818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5075" y="-9265"/>
                  <a:pt x="125276" y="-9302"/>
                  <a:pt x="162483" y="27794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78336" y="1905000"/>
            <a:ext cx="2076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5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Отслеживание привычек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87861" y="2476500"/>
            <a:ext cx="20574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Повторяющиеся поведенческие паттерны со счетчиками последовательностей и аналитикой завершения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28158" y="1333500"/>
            <a:ext cx="50453" cy="2496911"/>
          </a:xfrm>
          <a:custGeom>
            <a:avLst/>
            <a:gdLst/>
            <a:ahLst/>
            <a:cxnLst/>
            <a:rect l="l" t="t" r="r" b="b"/>
            <a:pathLst>
              <a:path w="28575" h="3486150">
                <a:moveTo>
                  <a:pt x="0" y="0"/>
                </a:moveTo>
                <a:lnTo>
                  <a:pt x="28575" y="0"/>
                </a:lnTo>
                <a:lnTo>
                  <a:pt x="28575" y="3486150"/>
                </a:lnTo>
                <a:lnTo>
                  <a:pt x="0" y="3486150"/>
                </a:lnTo>
                <a:lnTo>
                  <a:pt x="0" y="0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94846" y="133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28196" y="146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94846" y="1905000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5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Управление задачами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85321" y="2471058"/>
            <a:ext cx="2057400" cy="127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Одноразовые дискретные действия с оценкой приоритетов и информацией о сроках выполнения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 flipH="1">
            <a:off x="7294217" y="1333500"/>
            <a:ext cx="50452" cy="2496911"/>
          </a:xfrm>
          <a:custGeom>
            <a:avLst/>
            <a:gdLst/>
            <a:ahLst/>
            <a:cxnLst/>
            <a:rect l="l" t="t" r="r" b="b"/>
            <a:pathLst>
              <a:path w="28575" h="3486150">
                <a:moveTo>
                  <a:pt x="0" y="0"/>
                </a:moveTo>
                <a:lnTo>
                  <a:pt x="28575" y="0"/>
                </a:lnTo>
                <a:lnTo>
                  <a:pt x="28575" y="3486150"/>
                </a:lnTo>
                <a:lnTo>
                  <a:pt x="0" y="3486150"/>
                </a:lnTo>
                <a:lnTo>
                  <a:pt x="0" y="0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511355" y="133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44705" y="146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511355" y="1905000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Pomodoro</a:t>
            </a:r>
            <a:r>
              <a:rPr lang="ru-RU" sz="15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таймер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20880" y="241935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Целенаправленные рабочие сессии с захватом метаданных, обеспечивающих подтверждение работы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 flipH="1">
            <a:off x="9610727" y="1333500"/>
            <a:ext cx="50452" cy="2496911"/>
          </a:xfrm>
          <a:custGeom>
            <a:avLst/>
            <a:gdLst/>
            <a:ahLst/>
            <a:cxnLst/>
            <a:rect l="l" t="t" r="r" b="b"/>
            <a:pathLst>
              <a:path w="28575" h="3486150">
                <a:moveTo>
                  <a:pt x="0" y="0"/>
                </a:moveTo>
                <a:lnTo>
                  <a:pt x="28575" y="0"/>
                </a:lnTo>
                <a:lnTo>
                  <a:pt x="28575" y="3486150"/>
                </a:lnTo>
                <a:lnTo>
                  <a:pt x="0" y="3486150"/>
                </a:lnTo>
                <a:lnTo>
                  <a:pt x="0" y="0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827865" y="133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973121" y="1466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827865" y="1905000"/>
            <a:ext cx="2076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5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Дневник и размышления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827865" y="2450646"/>
            <a:ext cx="2057400" cy="108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Ежедневный синтез, объединяющий все виды деятельности в идеи и закономерности</a:t>
            </a: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390525" y="4211411"/>
            <a:ext cx="11420475" cy="2265589"/>
          </a:xfrm>
          <a:custGeom>
            <a:avLst/>
            <a:gdLst/>
            <a:ahLst/>
            <a:cxnLst/>
            <a:rect l="l" t="t" r="r" b="b"/>
            <a:pathLst>
              <a:path w="11420475" h="1466850">
                <a:moveTo>
                  <a:pt x="0" y="0"/>
                </a:moveTo>
                <a:lnTo>
                  <a:pt x="11420475" y="0"/>
                </a:lnTo>
                <a:lnTo>
                  <a:pt x="11420475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63856" y="4211410"/>
            <a:ext cx="45719" cy="2265590"/>
          </a:xfrm>
          <a:custGeom>
            <a:avLst/>
            <a:gdLst/>
            <a:ahLst/>
            <a:cxnLst/>
            <a:rect l="l" t="t" r="r" b="b"/>
            <a:pathLst>
              <a:path w="19050" h="1466850">
                <a:moveTo>
                  <a:pt x="0" y="0"/>
                </a:moveTo>
                <a:lnTo>
                  <a:pt x="19050" y="0"/>
                </a:lnTo>
                <a:lnTo>
                  <a:pt x="1905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76262" y="443320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0" y="114300"/>
                </a:moveTo>
                <a:cubicBezTo>
                  <a:pt x="0" y="74831"/>
                  <a:pt x="31968" y="42863"/>
                  <a:pt x="71438" y="42863"/>
                </a:cubicBezTo>
                <a:cubicBezTo>
                  <a:pt x="93940" y="42863"/>
                  <a:pt x="115104" y="53444"/>
                  <a:pt x="128588" y="71438"/>
                </a:cubicBezTo>
                <a:lnTo>
                  <a:pt x="142875" y="90502"/>
                </a:lnTo>
                <a:lnTo>
                  <a:pt x="157163" y="71438"/>
                </a:lnTo>
                <a:cubicBezTo>
                  <a:pt x="170646" y="53444"/>
                  <a:pt x="191810" y="42863"/>
                  <a:pt x="214313" y="42863"/>
                </a:cubicBezTo>
                <a:cubicBezTo>
                  <a:pt x="253782" y="42863"/>
                  <a:pt x="285750" y="74831"/>
                  <a:pt x="285750" y="114300"/>
                </a:cubicBezTo>
                <a:cubicBezTo>
                  <a:pt x="285750" y="153769"/>
                  <a:pt x="253782" y="185738"/>
                  <a:pt x="214313" y="185738"/>
                </a:cubicBezTo>
                <a:cubicBezTo>
                  <a:pt x="191810" y="185738"/>
                  <a:pt x="170646" y="175156"/>
                  <a:pt x="157163" y="157163"/>
                </a:cubicBezTo>
                <a:lnTo>
                  <a:pt x="142875" y="138098"/>
                </a:lnTo>
                <a:lnTo>
                  <a:pt x="128588" y="157163"/>
                </a:lnTo>
                <a:cubicBezTo>
                  <a:pt x="115104" y="175156"/>
                  <a:pt x="93940" y="185738"/>
                  <a:pt x="71438" y="185738"/>
                </a:cubicBezTo>
                <a:cubicBezTo>
                  <a:pt x="31968" y="185738"/>
                  <a:pt x="0" y="153769"/>
                  <a:pt x="0" y="114300"/>
                </a:cubicBezTo>
                <a:close/>
                <a:moveTo>
                  <a:pt x="125016" y="114300"/>
                </a:moveTo>
                <a:lnTo>
                  <a:pt x="105728" y="88583"/>
                </a:lnTo>
                <a:cubicBezTo>
                  <a:pt x="97646" y="77778"/>
                  <a:pt x="84921" y="71438"/>
                  <a:pt x="71438" y="71438"/>
                </a:cubicBezTo>
                <a:cubicBezTo>
                  <a:pt x="47774" y="71438"/>
                  <a:pt x="28575" y="90636"/>
                  <a:pt x="28575" y="114300"/>
                </a:cubicBezTo>
                <a:cubicBezTo>
                  <a:pt x="28575" y="137964"/>
                  <a:pt x="47774" y="157163"/>
                  <a:pt x="71438" y="157163"/>
                </a:cubicBezTo>
                <a:cubicBezTo>
                  <a:pt x="84921" y="157163"/>
                  <a:pt x="97646" y="150822"/>
                  <a:pt x="105728" y="140018"/>
                </a:cubicBezTo>
                <a:lnTo>
                  <a:pt x="125016" y="114300"/>
                </a:lnTo>
                <a:close/>
                <a:moveTo>
                  <a:pt x="160734" y="114300"/>
                </a:moveTo>
                <a:lnTo>
                  <a:pt x="180023" y="140018"/>
                </a:lnTo>
                <a:cubicBezTo>
                  <a:pt x="188104" y="150822"/>
                  <a:pt x="200829" y="157163"/>
                  <a:pt x="214313" y="157163"/>
                </a:cubicBezTo>
                <a:cubicBezTo>
                  <a:pt x="237976" y="157163"/>
                  <a:pt x="257175" y="137964"/>
                  <a:pt x="257175" y="114300"/>
                </a:cubicBezTo>
                <a:cubicBezTo>
                  <a:pt x="257175" y="90636"/>
                  <a:pt x="237976" y="71438"/>
                  <a:pt x="214313" y="71438"/>
                </a:cubicBezTo>
                <a:cubicBezTo>
                  <a:pt x="200829" y="71438"/>
                  <a:pt x="188104" y="77778"/>
                  <a:pt x="180023" y="88583"/>
                </a:cubicBezTo>
                <a:lnTo>
                  <a:pt x="160734" y="11430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28700" y="4306661"/>
            <a:ext cx="106775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Взаимосвязанная экосистема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1028700" y="4725761"/>
            <a:ext cx="10668000" cy="1560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14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Это не отдельные фичи, </a:t>
            </a:r>
            <a:r>
              <a:rPr lang="ru-RU" sz="14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взаимосвязанная система, в которой данные передаются между компонентами</a:t>
            </a:r>
            <a:r>
              <a:rPr lang="en-US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</a:t>
            </a:r>
            <a:r>
              <a:rPr lang="ru-RU" sz="1400" dirty="0">
                <a:solidFill>
                  <a:schemeClr val="bg1"/>
                </a:solidFill>
                <a:effectLst/>
              </a:rPr>
              <a:t>Достижение цели влияет на выработку рекомендаций по привычкам; сеансы </a:t>
            </a:r>
            <a:r>
              <a:rPr lang="en-US" sz="1400" dirty="0">
                <a:solidFill>
                  <a:schemeClr val="bg1"/>
                </a:solidFill>
                <a:effectLst/>
              </a:rPr>
              <a:t>pomodoro </a:t>
            </a:r>
            <a:r>
              <a:rPr lang="ru-RU" sz="1400" dirty="0">
                <a:solidFill>
                  <a:schemeClr val="bg1"/>
                </a:solidFill>
                <a:effectLst/>
              </a:rPr>
              <a:t>помогают оценить сложность задачи; аналитические материалы в журнале уточняют рекомендации по планированию. Такой синтез создает интеллектуальные возможности, невозможные при использовании фрагментированных наборов инструментов</a:t>
            </a:r>
            <a:r>
              <a:rPr lang="ru-RU" sz="1400" dirty="0">
                <a:effectLst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 flipV="1">
            <a:off x="380999" y="944881"/>
            <a:ext cx="2002971" cy="45719"/>
          </a:xfrm>
          <a:custGeom>
            <a:avLst/>
            <a:gdLst/>
            <a:ahLst/>
            <a:cxnLst/>
            <a:rect l="l" t="t" r="r" b="b"/>
            <a:pathLst>
              <a:path w="914400" h="28575">
                <a:moveTo>
                  <a:pt x="0" y="0"/>
                </a:moveTo>
                <a:lnTo>
                  <a:pt x="914400" y="0"/>
                </a:lnTo>
                <a:lnTo>
                  <a:pt x="9144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5288" y="1400175"/>
            <a:ext cx="28575" cy="1543050"/>
          </a:xfrm>
          <a:custGeom>
            <a:avLst/>
            <a:gdLst/>
            <a:ahLst/>
            <a:cxnLst/>
            <a:rect l="l" t="t" r="r" b="b"/>
            <a:pathLst>
              <a:path w="28575" h="1543050">
                <a:moveTo>
                  <a:pt x="0" y="0"/>
                </a:moveTo>
                <a:lnTo>
                  <a:pt x="28575" y="0"/>
                </a:lnTo>
                <a:lnTo>
                  <a:pt x="285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8175" y="1874788"/>
            <a:ext cx="66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D9D94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2297" y="1937209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sz="18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Проектирование микросервисов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397" y="2255788"/>
            <a:ext cx="396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2688" y="1400175"/>
            <a:ext cx="28575" cy="1543050"/>
          </a:xfrm>
          <a:custGeom>
            <a:avLst/>
            <a:gdLst/>
            <a:ahLst/>
            <a:cxnLst/>
            <a:rect l="l" t="t" r="r" b="b"/>
            <a:pathLst>
              <a:path w="28575" h="1543050">
                <a:moveTo>
                  <a:pt x="0" y="0"/>
                </a:moveTo>
                <a:lnTo>
                  <a:pt x="28575" y="0"/>
                </a:lnTo>
                <a:lnTo>
                  <a:pt x="285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05575" y="1874788"/>
            <a:ext cx="76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D9D94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43750" y="1937209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sz="18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Проектирование МО систем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5288" y="3168551"/>
            <a:ext cx="28575" cy="1543050"/>
          </a:xfrm>
          <a:custGeom>
            <a:avLst/>
            <a:gdLst/>
            <a:ahLst/>
            <a:cxnLst/>
            <a:rect l="l" t="t" r="r" b="b"/>
            <a:pathLst>
              <a:path w="28575" h="1543050">
                <a:moveTo>
                  <a:pt x="0" y="0"/>
                </a:moveTo>
                <a:lnTo>
                  <a:pt x="28575" y="0"/>
                </a:lnTo>
                <a:lnTo>
                  <a:pt x="285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175" y="3643164"/>
            <a:ext cx="771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D9D94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70396" y="3708202"/>
            <a:ext cx="452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F0FDFA"/>
                </a:solidFill>
                <a:latin typeface="Liter" pitchFamily="34" charset="0"/>
              </a:rPr>
              <a:t>Design </a:t>
            </a:r>
            <a:r>
              <a:rPr lang="ru-RU" sz="1600" b="1" dirty="0">
                <a:solidFill>
                  <a:srgbClr val="F0FDFA"/>
                </a:solidFill>
                <a:latin typeface="Liter" pitchFamily="34" charset="0"/>
              </a:rPr>
              <a:t>приложения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2688" y="3168551"/>
            <a:ext cx="28575" cy="1543050"/>
          </a:xfrm>
          <a:custGeom>
            <a:avLst/>
            <a:gdLst/>
            <a:ahLst/>
            <a:cxnLst/>
            <a:rect l="l" t="t" r="r" b="b"/>
            <a:pathLst>
              <a:path w="28575" h="1543050">
                <a:moveTo>
                  <a:pt x="0" y="0"/>
                </a:moveTo>
                <a:lnTo>
                  <a:pt x="28575" y="0"/>
                </a:lnTo>
                <a:lnTo>
                  <a:pt x="285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83B71421-2C82-90DF-E7CA-FABDF4FD4A2B}"/>
              </a:ext>
            </a:extLst>
          </p:cNvPr>
          <p:cNvSpPr/>
          <p:nvPr/>
        </p:nvSpPr>
        <p:spPr>
          <a:xfrm>
            <a:off x="6505575" y="3643164"/>
            <a:ext cx="771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D9D94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r>
              <a:rPr lang="ru-RU" sz="3600" b="1" dirty="0">
                <a:solidFill>
                  <a:srgbClr val="4D9D94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A1A1FE2A-E166-0BB6-745C-04DC86DC18E9}"/>
              </a:ext>
            </a:extLst>
          </p:cNvPr>
          <p:cNvSpPr/>
          <p:nvPr/>
        </p:nvSpPr>
        <p:spPr>
          <a:xfrm>
            <a:off x="7143750" y="3719364"/>
            <a:ext cx="452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b="1" dirty="0">
                <a:solidFill>
                  <a:srgbClr val="F0FDFA"/>
                </a:solidFill>
                <a:latin typeface="Liter" pitchFamily="34" charset="0"/>
              </a:rPr>
              <a:t>Разработка </a:t>
            </a:r>
            <a:r>
              <a:rPr lang="en-US" b="1" dirty="0">
                <a:solidFill>
                  <a:srgbClr val="F0FDFA"/>
                </a:solidFill>
                <a:latin typeface="Liter" pitchFamily="34" charset="0"/>
              </a:rPr>
              <a:t>MVP</a:t>
            </a:r>
            <a:endParaRPr lang="en-US" sz="16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FC005F71-5354-74A9-6594-7A00D8CB2ED3}"/>
              </a:ext>
            </a:extLst>
          </p:cNvPr>
          <p:cNvSpPr/>
          <p:nvPr/>
        </p:nvSpPr>
        <p:spPr>
          <a:xfrm>
            <a:off x="389335" y="4936927"/>
            <a:ext cx="28575" cy="1543050"/>
          </a:xfrm>
          <a:custGeom>
            <a:avLst/>
            <a:gdLst/>
            <a:ahLst/>
            <a:cxnLst/>
            <a:rect l="l" t="t" r="r" b="b"/>
            <a:pathLst>
              <a:path w="28575" h="1543050">
                <a:moveTo>
                  <a:pt x="0" y="0"/>
                </a:moveTo>
                <a:lnTo>
                  <a:pt x="28575" y="0"/>
                </a:lnTo>
                <a:lnTo>
                  <a:pt x="285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D2E52638-4220-E708-3481-B57FDEEC3CB2}"/>
              </a:ext>
            </a:extLst>
          </p:cNvPr>
          <p:cNvSpPr/>
          <p:nvPr/>
        </p:nvSpPr>
        <p:spPr>
          <a:xfrm>
            <a:off x="632222" y="5411540"/>
            <a:ext cx="771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D9D94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r>
              <a:rPr lang="ru-RU" sz="3600" b="1" dirty="0">
                <a:solidFill>
                  <a:srgbClr val="4D9D94">
                    <a:alpha val="3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860145D9-74FE-65CF-8588-27A5F6A705EF}"/>
              </a:ext>
            </a:extLst>
          </p:cNvPr>
          <p:cNvSpPr/>
          <p:nvPr/>
        </p:nvSpPr>
        <p:spPr>
          <a:xfrm>
            <a:off x="1270397" y="5487740"/>
            <a:ext cx="452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b="1" dirty="0">
                <a:solidFill>
                  <a:srgbClr val="F0FDFA"/>
                </a:solidFill>
                <a:latin typeface="Liter" pitchFamily="34" charset="0"/>
              </a:rPr>
              <a:t>Обзор рынка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7777df05d7446242a06f894cc11f0cff7ef378b8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83" r="18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/>
              </a:gs>
              <a:gs pos="50000">
                <a:srgbClr val="11182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66700" y="67866"/>
            <a:ext cx="1200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ru-RU" sz="5400" b="1" dirty="0">
                <a:solidFill>
                  <a:srgbClr val="4D9D94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Структура микросервисов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81000" y="4364831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Picture 10" descr="A diagram of a website&#10;&#10;AI-generated content may be incorrect.">
            <a:extLst>
              <a:ext uri="{FF2B5EF4-FFF2-40B4-BE49-F238E27FC236}">
                <a16:creationId xmlns:a16="http://schemas.microsoft.com/office/drawing/2014/main" id="{13BB134F-830C-89D9-D156-0073D4EDE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018" y="1089270"/>
            <a:ext cx="4783963" cy="53567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1885FE-E9C0-17DF-3448-C0B3B7090A9F}"/>
              </a:ext>
            </a:extLst>
          </p:cNvPr>
          <p:cNvSpPr txBox="1"/>
          <p:nvPr/>
        </p:nvSpPr>
        <p:spPr>
          <a:xfrm>
            <a:off x="291870" y="3964721"/>
            <a:ext cx="1424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2"/>
                </a:solidFill>
              </a:rPr>
              <a:t>Блок-схема</a:t>
            </a:r>
            <a:endParaRPr lang="en-US" sz="2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CFEE0-A88D-1FD3-2D61-8CF94770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7777df05d7446242a06f894cc11f0cff7ef378b8.jpg">
            <a:extLst>
              <a:ext uri="{FF2B5EF4-FFF2-40B4-BE49-F238E27FC236}">
                <a16:creationId xmlns:a16="http://schemas.microsoft.com/office/drawing/2014/main" id="{B25379DA-6F48-AD91-B58D-F8E92303117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l="183" r="18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72A8C03-DC8F-5F66-F713-AE72D860DF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/>
              </a:gs>
              <a:gs pos="50000">
                <a:srgbClr val="11182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7C79815-2314-979A-71C1-8D8104A42516}"/>
              </a:ext>
            </a:extLst>
          </p:cNvPr>
          <p:cNvSpPr/>
          <p:nvPr/>
        </p:nvSpPr>
        <p:spPr>
          <a:xfrm>
            <a:off x="266700" y="67866"/>
            <a:ext cx="1200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ru-RU" sz="5400" b="1" dirty="0">
                <a:solidFill>
                  <a:srgbClr val="4D9D94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Структура микросервисов</a:t>
            </a:r>
            <a:endParaRPr lang="en-US" sz="9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883894F-0F50-95E4-3EC6-8489AA9CB4EB}"/>
              </a:ext>
            </a:extLst>
          </p:cNvPr>
          <p:cNvSpPr/>
          <p:nvPr/>
        </p:nvSpPr>
        <p:spPr>
          <a:xfrm>
            <a:off x="381000" y="4364831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Picture 8" descr="A diagram of a company&#10;&#10;AI-generated content may be incorrect.">
            <a:extLst>
              <a:ext uri="{FF2B5EF4-FFF2-40B4-BE49-F238E27FC236}">
                <a16:creationId xmlns:a16="http://schemas.microsoft.com/office/drawing/2014/main" id="{4330E8E3-C753-19C0-D047-9CEB08405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591" y="1210866"/>
            <a:ext cx="8965718" cy="54125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4A1DCE-F26A-4D27-6FC6-8B4B38D682EA}"/>
              </a:ext>
            </a:extLst>
          </p:cNvPr>
          <p:cNvSpPr txBox="1"/>
          <p:nvPr/>
        </p:nvSpPr>
        <p:spPr>
          <a:xfrm>
            <a:off x="342900" y="3917150"/>
            <a:ext cx="1133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2"/>
                </a:solidFill>
              </a:rPr>
              <a:t>Дневник</a:t>
            </a:r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32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8699C-6AAE-E377-C191-70A20702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allpaperaccess.com/30e7ad2e5cfdc4a07fdbc0fc6f376fb6dd842690.jpg">
            <a:extLst>
              <a:ext uri="{FF2B5EF4-FFF2-40B4-BE49-F238E27FC236}">
                <a16:creationId xmlns:a16="http://schemas.microsoft.com/office/drawing/2014/main" id="{615E7D72-FEDC-B2B4-B449-AF62F65DD7E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0D1F885-3FEE-C4D9-62BE-5E15D243AB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/>
              </a:gs>
              <a:gs pos="50000">
                <a:srgbClr val="11182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02177FC-B2CE-9FE9-EE39-CE5BEBE38391}"/>
              </a:ext>
            </a:extLst>
          </p:cNvPr>
          <p:cNvSpPr/>
          <p:nvPr/>
        </p:nvSpPr>
        <p:spPr>
          <a:xfrm>
            <a:off x="95250" y="128730"/>
            <a:ext cx="1200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4D9D94">
                    <a:alpha val="20000"/>
                  </a:srgbClr>
                </a:solidFill>
                <a:latin typeface="Quattrocento Sans" pitchFamily="34" charset="0"/>
              </a:rPr>
              <a:t>App design</a:t>
            </a:r>
            <a:endParaRPr lang="en-US" sz="11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4CEF707-070D-850D-5B06-A4AA0574B270}"/>
              </a:ext>
            </a:extLst>
          </p:cNvPr>
          <p:cNvSpPr/>
          <p:nvPr/>
        </p:nvSpPr>
        <p:spPr>
          <a:xfrm>
            <a:off x="381000" y="4364831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0B6676-29F8-1BFA-B9D6-5E0DC05D74ED}"/>
              </a:ext>
            </a:extLst>
          </p:cNvPr>
          <p:cNvSpPr txBox="1"/>
          <p:nvPr/>
        </p:nvSpPr>
        <p:spPr>
          <a:xfrm>
            <a:off x="286627" y="3964721"/>
            <a:ext cx="1040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Desktop</a:t>
            </a:r>
          </a:p>
        </p:txBody>
      </p:sp>
      <p:pic>
        <p:nvPicPr>
          <p:cNvPr id="5" name="Screen Recording 2026-01-22 at 12.30.54">
            <a:hlinkClick r:id="" action="ppaction://media"/>
            <a:extLst>
              <a:ext uri="{FF2B5EF4-FFF2-40B4-BE49-F238E27FC236}">
                <a16:creationId xmlns:a16="http://schemas.microsoft.com/office/drawing/2014/main" id="{BDF2A606-FFEB-4F80-1CE9-76C9C30A22F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895100" y="1429035"/>
            <a:ext cx="7849100" cy="519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6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68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allpaperaccess.com/30e7ad2e5cfdc4a07fdbc0fc6f376fb6dd842690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/>
              </a:gs>
              <a:gs pos="50000">
                <a:srgbClr val="11182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95250" y="128730"/>
            <a:ext cx="1200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4D9D94">
                    <a:alpha val="20000"/>
                  </a:srgbClr>
                </a:solidFill>
                <a:latin typeface="Quattrocento Sans" pitchFamily="34" charset="0"/>
              </a:rPr>
              <a:t>App design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81000" y="4364831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19643E47-83DD-900D-5F51-75BD62D97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968" y="1155683"/>
            <a:ext cx="3109386" cy="5497998"/>
          </a:xfrm>
          <a:prstGeom prst="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D070BF39-8A19-6653-1C82-F90DDD35A0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938" y="1155683"/>
            <a:ext cx="3113712" cy="55056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505FE5-A7FC-1344-1C3D-03B4B468FDB8}"/>
              </a:ext>
            </a:extLst>
          </p:cNvPr>
          <p:cNvSpPr txBox="1"/>
          <p:nvPr/>
        </p:nvSpPr>
        <p:spPr>
          <a:xfrm>
            <a:off x="298768" y="3964721"/>
            <a:ext cx="920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Mobile</a:t>
            </a:r>
          </a:p>
        </p:txBody>
      </p:sp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C8F10035-DC09-D141-69AF-65DFF19A9D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5234" y="1163330"/>
            <a:ext cx="3193046" cy="54903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exels.com/d9908a718d9e2b347c1770f7710c9eb9ed476479.jpeg"/>
          <p:cNvPicPr>
            <a:picLocks noChangeAspect="1"/>
          </p:cNvPicPr>
          <p:nvPr/>
        </p:nvPicPr>
        <p:blipFill>
          <a:blip r:embed="rId3">
            <a:alphaModFix amt="50000"/>
          </a:blip>
          <a:srcRect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8388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>
                  <a:alpha val="95000"/>
                </a:srgbClr>
              </a:gs>
              <a:gs pos="50000">
                <a:srgbClr val="111827">
                  <a:alpha val="85000"/>
                </a:srgbClr>
              </a:gs>
              <a:gs pos="100000">
                <a:srgbClr val="4D9D94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138166" y="116681"/>
            <a:ext cx="3914775" cy="466725"/>
          </a:xfrm>
          <a:custGeom>
            <a:avLst/>
            <a:gdLst/>
            <a:ahLst/>
            <a:cxnLst/>
            <a:rect l="l" t="t" r="r" b="b"/>
            <a:pathLst>
              <a:path w="3914775" h="466725">
                <a:moveTo>
                  <a:pt x="0" y="0"/>
                </a:moveTo>
                <a:lnTo>
                  <a:pt x="3914775" y="0"/>
                </a:lnTo>
                <a:lnTo>
                  <a:pt x="3914775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20000"/>
            </a:srgbClr>
          </a:solidFill>
          <a:ln w="12700">
            <a:solidFill>
              <a:srgbClr val="4D9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333429" y="264319"/>
            <a:ext cx="35251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240" dirty="0">
                <a:solidFill>
                  <a:srgbClr val="E0F2F1"/>
                </a:solidFill>
                <a:latin typeface="Quattrocento Sans" pitchFamily="34" charset="0"/>
              </a:rPr>
              <a:t>Productive Social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95078" y="1894455"/>
            <a:ext cx="7600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4500" b="1" dirty="0">
                <a:solidFill>
                  <a:srgbClr val="F0FDFA"/>
                </a:solidFill>
                <a:latin typeface="Liter" pitchFamily="34" charset="0"/>
              </a:rPr>
              <a:t>Команда</a:t>
            </a:r>
            <a:endParaRPr lang="en-US" sz="1600" dirty="0"/>
          </a:p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5953" y="2449286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6C09EA24-A587-FC7F-1778-E969A3B4C1FC}"/>
              </a:ext>
            </a:extLst>
          </p:cNvPr>
          <p:cNvSpPr/>
          <p:nvPr/>
        </p:nvSpPr>
        <p:spPr>
          <a:xfrm>
            <a:off x="357423" y="2848995"/>
            <a:ext cx="3780743" cy="231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4500" b="1" dirty="0">
                <a:solidFill>
                  <a:srgbClr val="F0FDFA"/>
                </a:solidFill>
                <a:latin typeface="Liter" pitchFamily="34" charset="0"/>
              </a:rPr>
              <a:t>Миамбо Жуниор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4D9D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manager</a:t>
            </a: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4D9D94"/>
                </a:solidFill>
                <a:latin typeface="Liter" pitchFamily="34" charset="0"/>
              </a:rPr>
              <a:t>Full stack developer</a:t>
            </a:r>
            <a:endParaRPr lang="en-US" sz="105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CEE137FD-684D-BEBB-4D17-C3655371BDA5}"/>
              </a:ext>
            </a:extLst>
          </p:cNvPr>
          <p:cNvSpPr/>
          <p:nvPr/>
        </p:nvSpPr>
        <p:spPr>
          <a:xfrm>
            <a:off x="4333429" y="2580255"/>
            <a:ext cx="3780743" cy="231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4500" b="1" dirty="0" err="1">
                <a:solidFill>
                  <a:srgbClr val="F0FDFA"/>
                </a:solidFill>
                <a:latin typeface="Liter" pitchFamily="34" charset="0"/>
              </a:rPr>
              <a:t>Хериклис</a:t>
            </a:r>
            <a:r>
              <a:rPr lang="ru-RU" sz="4500" b="1" dirty="0">
                <a:solidFill>
                  <a:srgbClr val="F0FDFA"/>
                </a:solidFill>
                <a:latin typeface="Liter" pitchFamily="34" charset="0"/>
              </a:rPr>
              <a:t> </a:t>
            </a:r>
            <a:r>
              <a:rPr lang="ru-RU" sz="4500" b="1" dirty="0" err="1">
                <a:solidFill>
                  <a:srgbClr val="F0FDFA"/>
                </a:solidFill>
                <a:latin typeface="Liter" pitchFamily="34" charset="0"/>
              </a:rPr>
              <a:t>Шаука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4D9D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</a:t>
            </a:r>
            <a:r>
              <a:rPr lang="en-US" sz="3200" b="1" dirty="0">
                <a:solidFill>
                  <a:srgbClr val="4D9D94"/>
                </a:solidFill>
                <a:latin typeface="Liter" pitchFamily="34" charset="0"/>
              </a:rPr>
              <a:t>developer</a:t>
            </a:r>
            <a:endParaRPr lang="en-US" sz="105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1B652B1A-E9F2-15C6-954C-807F1AF3FED7}"/>
              </a:ext>
            </a:extLst>
          </p:cNvPr>
          <p:cNvSpPr/>
          <p:nvPr/>
        </p:nvSpPr>
        <p:spPr>
          <a:xfrm>
            <a:off x="8419645" y="2848995"/>
            <a:ext cx="3780743" cy="231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4500" b="1" dirty="0">
                <a:solidFill>
                  <a:srgbClr val="F0FDFA"/>
                </a:solidFill>
                <a:latin typeface="Liter" pitchFamily="34" charset="0"/>
              </a:rPr>
              <a:t>Руслан Сафин</a:t>
            </a:r>
          </a:p>
          <a:p>
            <a:pPr>
              <a:lnSpc>
                <a:spcPct val="100000"/>
              </a:lnSpc>
            </a:pPr>
            <a:r>
              <a:rPr lang="ru-RU" sz="3200" b="1" dirty="0">
                <a:solidFill>
                  <a:srgbClr val="4D9D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Научный руководитель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CFD68-D2D3-5FBF-E6EB-C0A470156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exels.com/d9908a718d9e2b347c1770f7710c9eb9ed476479.jpeg">
            <a:extLst>
              <a:ext uri="{FF2B5EF4-FFF2-40B4-BE49-F238E27FC236}">
                <a16:creationId xmlns:a16="http://schemas.microsoft.com/office/drawing/2014/main" id="{E8A0FDC4-5352-0E78-3FB3-0C0560EF6B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1C3A5E1-7FA2-EE0B-709B-475F2EBF80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>
                  <a:alpha val="95000"/>
                </a:srgbClr>
              </a:gs>
              <a:gs pos="50000">
                <a:srgbClr val="111827">
                  <a:alpha val="85000"/>
                </a:srgbClr>
              </a:gs>
              <a:gs pos="100000">
                <a:srgbClr val="4D9D94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F3B8BD7-5F57-EA46-C378-BDD63E891DD0}"/>
              </a:ext>
            </a:extLst>
          </p:cNvPr>
          <p:cNvSpPr/>
          <p:nvPr/>
        </p:nvSpPr>
        <p:spPr>
          <a:xfrm>
            <a:off x="4138166" y="116681"/>
            <a:ext cx="3914775" cy="466725"/>
          </a:xfrm>
          <a:custGeom>
            <a:avLst/>
            <a:gdLst/>
            <a:ahLst/>
            <a:cxnLst/>
            <a:rect l="l" t="t" r="r" b="b"/>
            <a:pathLst>
              <a:path w="3914775" h="466725">
                <a:moveTo>
                  <a:pt x="0" y="0"/>
                </a:moveTo>
                <a:lnTo>
                  <a:pt x="3914775" y="0"/>
                </a:lnTo>
                <a:lnTo>
                  <a:pt x="3914775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20000"/>
            </a:srgbClr>
          </a:solidFill>
          <a:ln w="12700">
            <a:solidFill>
              <a:srgbClr val="4D9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A895F31-AD60-2400-B4A2-41128C7BD0AB}"/>
              </a:ext>
            </a:extLst>
          </p:cNvPr>
          <p:cNvSpPr/>
          <p:nvPr/>
        </p:nvSpPr>
        <p:spPr>
          <a:xfrm>
            <a:off x="4333429" y="264319"/>
            <a:ext cx="35251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240" dirty="0">
                <a:solidFill>
                  <a:srgbClr val="E0F2F1"/>
                </a:solidFill>
                <a:latin typeface="Quattrocento Sans" pitchFamily="34" charset="0"/>
              </a:rPr>
              <a:t>Productive Social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F7836FF-AE34-AF3B-8A05-1B69D979EBF6}"/>
              </a:ext>
            </a:extLst>
          </p:cNvPr>
          <p:cNvSpPr/>
          <p:nvPr/>
        </p:nvSpPr>
        <p:spPr>
          <a:xfrm>
            <a:off x="2295078" y="2478201"/>
            <a:ext cx="760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4500" b="1" dirty="0">
                <a:solidFill>
                  <a:srgbClr val="F0FDFA"/>
                </a:solidFill>
                <a:latin typeface="Liter" pitchFamily="34" charset="0"/>
              </a:rPr>
              <a:t>Спасибо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ru-RU" sz="4500" b="1" dirty="0">
                <a:solidFill>
                  <a:srgbClr val="4D9D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 ваше время</a:t>
            </a:r>
            <a:endParaRPr lang="en-US" sz="16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A2EB4B5-F07F-A9BF-0513-E8472661829A}"/>
              </a:ext>
            </a:extLst>
          </p:cNvPr>
          <p:cNvSpPr/>
          <p:nvPr/>
        </p:nvSpPr>
        <p:spPr>
          <a:xfrm>
            <a:off x="5485953" y="3164001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5887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807</Words>
  <Application>Microsoft Macintosh PowerPoint</Application>
  <PresentationFormat>Widescreen</PresentationFormat>
  <Paragraphs>151</Paragraphs>
  <Slides>13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Liter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ProductiveSocial: The Operating System for the Self</dc:title>
  <dc:subject>ProductiveSocial: The Operating System for the Self</dc:subject>
  <dc:creator>Kimi</dc:creator>
  <cp:lastModifiedBy>Миамбо Жуниор Рикардо Агоштиньо</cp:lastModifiedBy>
  <cp:revision>4</cp:revision>
  <dcterms:created xsi:type="dcterms:W3CDTF">2026-01-22T07:08:38Z</dcterms:created>
  <dcterms:modified xsi:type="dcterms:W3CDTF">2026-01-22T11:36:17Z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{"Label":"ProductiveSocial: The Operating System for the Self","ContentProducer":"001191110108MACG2KBH8F10000","ProduceID":"19be47b0-4212-893f-8000-0000131cb88f","ReservedCode1":"","ContentPropagator":"001191110108MACG2KBH8F20000","PropagateID":"19be47b0-4212-893f-8000-0000131cb88f","ReservedCode2":""}</vt:lpwstr>
  </property>
</Properties>
</file>