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"/>
            <a:ext cx="2834640" cy="2377440"/>
          </a:xfrm>
          <a:prstGeom prst="rect">
            <a:avLst/>
          </a:prstGeom>
          <a:solidFill>
            <a:srgbClr val="1E88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91440"/>
            <a:ext cx="1645920" cy="1280160"/>
          </a:xfrm>
          <a:prstGeom prst="rect">
            <a:avLst/>
          </a:prstGeom>
          <a:solidFill>
            <a:srgbClr val="00ACC1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200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412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отказоустойчивой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микросервисной архитектуры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мобильного приложения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оптимизации продуктивности</a:t>
            </a:r>
            <a:endParaRPr lang="en-US" sz="17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интеграцией машинного обучения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22860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005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Миамбо Жуниор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  ·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40880" y="4434840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E88E5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4434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ProductiveSocial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Аннотация ВКР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26464"/>
            <a:ext cx="420624" cy="42062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7824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проблема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" y="16367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Фрагментация инструментов продуктивности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663440" cy="13716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2112264"/>
            <a:ext cx="420624" cy="42062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2093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77824" y="2322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ML-платформа с микросервисами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606040"/>
            <a:ext cx="4663440" cy="13716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798064"/>
            <a:ext cx="420624" cy="420624"/>
          </a:xfrm>
          <a:prstGeom prst="rect">
            <a:avLst/>
          </a:prstGeom>
          <a:solidFill>
            <a:srgbClr val="1A366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798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27797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3008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ключевых инженерных задач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4663440" cy="13716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3483864"/>
            <a:ext cx="420624" cy="420624"/>
          </a:xfrm>
          <a:prstGeom prst="rect">
            <a:avLst/>
          </a:prstGeom>
          <a:solidFill>
            <a:srgbClr val="1A366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3465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решения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3694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микросервиса, JWT, offline-sync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77640"/>
            <a:ext cx="4663440" cy="13716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4169664"/>
            <a:ext cx="420624" cy="420624"/>
          </a:xfrm>
          <a:prstGeom prst="rect">
            <a:avLst/>
          </a:prstGeom>
          <a:solidFill>
            <a:srgbClr val="1A3660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" y="4151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валидация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тестов, LLM vs baseline 4.1/5 vs 1.3/5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1280160"/>
            <a:ext cx="3383280" cy="3566160"/>
          </a:xfrm>
          <a:prstGeom prst="rect">
            <a:avLst/>
          </a:prstGeom>
          <a:solidFill>
            <a:srgbClr val="1221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0720" y="1508760"/>
            <a:ext cx="1417320" cy="1371600"/>
          </a:xfrm>
          <a:prstGeom prst="rect">
            <a:avLst/>
          </a:prstGeom>
          <a:solidFill>
            <a:srgbClr val="1A3660">
              <a:alpha val="9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16916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576072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60920" y="1508760"/>
            <a:ext cx="1417320" cy="1371600"/>
          </a:xfrm>
          <a:prstGeom prst="rect">
            <a:avLst/>
          </a:prstGeom>
          <a:solidFill>
            <a:srgbClr val="1E88E5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360920" y="16916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36092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 ВКР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3200400"/>
            <a:ext cx="1417320" cy="1371600"/>
          </a:xfrm>
          <a:prstGeom prst="rect">
            <a:avLst/>
          </a:prstGeom>
          <a:solidFill>
            <a:srgbClr val="1A3660">
              <a:alpha val="9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3383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760720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экспериментов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60920" y="3200400"/>
            <a:ext cx="1417320" cy="1371600"/>
          </a:xfrm>
          <a:prstGeom prst="rect">
            <a:avLst/>
          </a:prstGeom>
          <a:solidFill>
            <a:srgbClr val="1E88E5">
              <a:alpha val="9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60920" y="33832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4.1/5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7360920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LLM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15568"/>
          </a:xfrm>
          <a:prstGeom prst="rect">
            <a:avLst/>
          </a:prstGeom>
          <a:solidFill>
            <a:srgbClr val="1221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ПРОБЛЕМЫ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Фрагментация инструментов продуктивности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3520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743200" cy="54864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Разрозненность данных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Todoist, Habitica, Forest, Day One — 4 изолированных хранилища. Никакого кросс-доменного анализа.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98448"/>
            <a:ext cx="2743200" cy="3520440"/>
          </a:xfrm>
          <a:prstGeom prst="rect">
            <a:avLst/>
          </a:prstGeom>
          <a:solidFill>
            <a:srgbClr val="1221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298448"/>
            <a:ext cx="2743200" cy="54864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087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ввод и переключение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одни данные в нескольких системах. Когнитивная стоимость переключения подрывает фокус.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298448"/>
            <a:ext cx="2743200" cy="3520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298448"/>
            <a:ext cx="2743200" cy="54864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08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0848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Слепые ИИ-инструменты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636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в каждом приложении видит лишь свой домен. Недостижима корреляция «привычки × задачи × фокус».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Ни одно существующее приложение не объединяет все модули с единым ИИ-слоем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474720"/>
            <a:ext cx="5029200" cy="2286000"/>
          </a:xfrm>
          <a:prstGeom prst="rect">
            <a:avLst/>
          </a:prstGeom>
          <a:solidFill>
            <a:srgbClr val="1A36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91440"/>
            <a:ext cx="2011680" cy="2011680"/>
          </a:xfrm>
          <a:prstGeom prst="rect">
            <a:avLst/>
          </a:prstGeom>
          <a:solidFill>
            <a:srgbClr val="1E88E5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955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и реализация
</a:t>
            </a:r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отказоустойчивой микросервисной платформы,
объединяющей инструменты личной продуктивности
</a:t>
            </a:r>
            <a:pPr indent="0" marL="0">
              <a:lnSpc>
                <a:spcPct val="135000"/>
              </a:lnSpc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единую экосистему с ИИ-аналитикой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606040" cy="1600200"/>
          </a:xfrm>
          <a:prstGeom prst="rect">
            <a:avLst/>
          </a:prstGeom>
          <a:solidFill>
            <a:srgbClr val="1E88E5">
              <a:alpha val="18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246120"/>
            <a:ext cx="260604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3401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КОНТЕКСТ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данные — одна платформа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246120"/>
            <a:ext cx="2606040" cy="1600200"/>
          </a:xfrm>
          <a:prstGeom prst="rect">
            <a:avLst/>
          </a:prstGeom>
          <a:solidFill>
            <a:srgbClr val="00ACC1">
              <a:alpha val="18000"/>
            </a:srgbClr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3246120"/>
            <a:ext cx="2606040" cy="54864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3401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ML-АНАЛИТИКА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9300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 кросс-доменным контекстом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2606040" cy="1600200"/>
          </a:xfrm>
          <a:prstGeom prst="rect">
            <a:avLst/>
          </a:prstGeom>
          <a:solidFill>
            <a:srgbClr val="FFB300">
              <a:alpha val="18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246120"/>
            <a:ext cx="260604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27648" y="3401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27648" y="3840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при восстановлении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4515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«Превратить инструменты продуктивности из пассивных контейнеров данных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интеллектуальную операционную систему для личности»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ВКР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инженерных задач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350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микросервисную архитектуру (границы, протоколы, аутентификация)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148840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0428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сервисы self-manager и timer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3580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035808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1912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конвейер ИИ-аналитики (RAG-паттерн)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922776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922776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78224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9959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систему кредитов и инференс (Ollama / Claude / GPT / sklearn)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261872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261872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417320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33502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веб-дашборды администратора и пользователя (Streamlit)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14884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148840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304288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221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offline-first синхронизацию (идемпотентный batch-sync)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035808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35808"/>
            <a:ext cx="438912" cy="7772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19125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0" y="3108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сквозную валидацию системы (12 экспериментов)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1221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РЕШЕНИЯ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независимых микросервиса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57400" cy="2377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34440"/>
            <a:ext cx="2057400" cy="457200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7101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12801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selfmanager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Ktor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2084832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Задачи, привычки, рутины, идентификация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423160" y="1234440"/>
            <a:ext cx="2057400" cy="2377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1234440"/>
            <a:ext cx="2057400" cy="457200"/>
          </a:xfrm>
          <a:prstGeom prst="rect">
            <a:avLst/>
          </a:prstGeom>
          <a:solidFill>
            <a:srgbClr val="00ACC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27101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12801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1460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Ktor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514600" y="2084832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Помодоро, аналитика фокуса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17720" y="1234440"/>
            <a:ext cx="2057400" cy="2377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1234440"/>
            <a:ext cx="2057400" cy="457200"/>
          </a:xfrm>
          <a:prstGeom prst="rect">
            <a:avLst/>
          </a:prstGeom>
          <a:solidFill>
            <a:srgbClr val="1A36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271016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93208" y="12801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0916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/ Ktor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709160" y="2084832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RAG-конвейер, оркестрация данных LLM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812280" y="1234440"/>
            <a:ext cx="2057400" cy="2377440"/>
          </a:xfrm>
          <a:prstGeom prst="rect">
            <a:avLst/>
          </a:prstGeom>
          <a:solidFill>
            <a:srgbClr val="E8F1F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1234440"/>
            <a:ext cx="2057400" cy="45720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71016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87768" y="128016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90372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903720" y="2084832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Кредиты, LLM-инференс, sklearn-путь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228600" y="3794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принципы: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28600" y="4133088"/>
            <a:ext cx="201168" cy="20116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1" name="Text 25"/>
          <p:cNvSpPr/>
          <p:nvPr/>
        </p:nvSpPr>
        <p:spPr>
          <a:xfrm>
            <a:off x="50292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JWT-шаринг: один токен для всех 3 клиентских сервисов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228600" y="4590288"/>
            <a:ext cx="201168" cy="20116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3" name="Text 27"/>
          <p:cNvSpPr/>
          <p:nvPr/>
        </p:nvSpPr>
        <p:spPr>
          <a:xfrm>
            <a:off x="502920" y="4572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X-Internal-Key: отдельная аутентификация сервис-сервис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709160" y="4133088"/>
            <a:ext cx="201168" cy="20116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5" name="Text 29"/>
          <p:cNvSpPr/>
          <p:nvPr/>
        </p:nvSpPr>
        <p:spPr>
          <a:xfrm>
            <a:off x="498348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UserRegistry: UPSERT для канонического user_id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4709160" y="4590288"/>
            <a:ext cx="201168" cy="20116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7" name="Text 31"/>
          <p:cNvSpPr/>
          <p:nvPr/>
        </p:nvSpPr>
        <p:spPr>
          <a:xfrm>
            <a:off x="4983480" y="4572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Offline-first: batch-sync с клиентскими UUID (идемпотентность)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ML-ИНТЕГРАЦИЯ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RAG-конвейер анализа продуктивности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920240" cy="1417320"/>
          </a:xfrm>
          <a:prstGeom prst="rect">
            <a:avLst/>
          </a:prstGeom>
          <a:solidFill>
            <a:srgbClr val="1A3660">
              <a:alpha val="80000"/>
            </a:srgbClr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1920240" cy="7315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контекста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вызовы selfmanager + timer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95728" y="1965960"/>
            <a:ext cx="146304" cy="36576"/>
          </a:xfrm>
          <a:prstGeom prst="rect">
            <a:avLst/>
          </a:prstGeom>
          <a:solidFill>
            <a:srgbClr val="94A8C4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298448"/>
            <a:ext cx="1920240" cy="1417320"/>
          </a:xfrm>
          <a:prstGeom prst="rect">
            <a:avLst/>
          </a:prstGeom>
          <a:solidFill>
            <a:srgbClr val="1A3660">
              <a:alpha val="80000"/>
            </a:srgbClr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298448"/>
            <a:ext cx="1920240" cy="73152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промпта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04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анализа, структурир. данные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98848" y="1965960"/>
            <a:ext cx="146304" cy="36576"/>
          </a:xfrm>
          <a:prstGeom prst="rect">
            <a:avLst/>
          </a:prstGeom>
          <a:solidFill>
            <a:srgbClr val="94A8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298448"/>
            <a:ext cx="1920240" cy="1417320"/>
          </a:xfrm>
          <a:prstGeom prst="rect">
            <a:avLst/>
          </a:prstGeom>
          <a:solidFill>
            <a:srgbClr val="1A3660">
              <a:alpha val="80000"/>
            </a:srgbClr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98448"/>
            <a:ext cx="1920240" cy="73152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LLM-инференс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304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/ Claude / GPT через billing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01968" y="1965960"/>
            <a:ext cx="146304" cy="36576"/>
          </a:xfrm>
          <a:prstGeom prst="rect">
            <a:avLst/>
          </a:prstGeom>
          <a:solidFill>
            <a:srgbClr val="94A8C4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298448"/>
            <a:ext cx="1920240" cy="1417320"/>
          </a:xfrm>
          <a:prstGeom prst="rect">
            <a:avLst/>
          </a:prstGeom>
          <a:solidFill>
            <a:srgbClr val="1A3660">
              <a:alpha val="80000"/>
            </a:srgbClr>
          </a:solidFill>
          <a:ln w="19050">
            <a:solidFill>
              <a:srgbClr val="26A6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298448"/>
            <a:ext cx="1920240" cy="73152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24" name="Text 22"/>
          <p:cNvSpPr/>
          <p:nvPr/>
        </p:nvSpPr>
        <p:spPr>
          <a:xfrm>
            <a:off x="6876288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1874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отчёта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304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кредитов + запись в БД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анализа: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364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PRODUCTIVITY_SUMMARY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337560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29000" y="3364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TASK_PRIORITIZATION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3337560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364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HABIT_INSIGHTS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13048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ROUTINE_OPTIMIZATION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3813048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WEEKLY_TIMER_SUMMARY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3813048"/>
            <a:ext cx="2651760" cy="365760"/>
          </a:xfrm>
          <a:prstGeom prst="rect">
            <a:avLst/>
          </a:prstGeom>
          <a:solidFill>
            <a:srgbClr val="1A3660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И ВАЛИДАЦИЯ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задокументированных экспериментов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61872"/>
            <a:ext cx="2011680" cy="5486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4.1/5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оценка LLM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(релевантность, специфичность,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действенность)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261872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261872"/>
            <a:ext cx="2011680" cy="54864"/>
          </a:xfrm>
          <a:prstGeom prst="rect">
            <a:avLst/>
          </a:prstGeom>
          <a:solidFill>
            <a:srgbClr val="94A8C4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1389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1.3/5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42032" y="21762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базовой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линии (правила)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261872"/>
            <a:ext cx="2011680" cy="54864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389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718304" y="21762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сессий,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привычек, 8 задач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261872"/>
            <a:ext cx="2011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261872"/>
            <a:ext cx="201168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94576" y="138988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~52 c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94576" y="21762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 старт JVM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Render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(бесплатный тариф)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401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экспериментов: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30752"/>
          <a:ext cx="8321040" cy="1261872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91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Аутентификация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JWT-шаринг cross-service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Токен принят timer и analytics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Кредиты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списания баланса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balance_before − cost = balance_after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Синхронизация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Идемпотентность повторного запроса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0 дублирующих записей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ИИ-качество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vs baseline (PRODUCTIVITY)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4.2/5 vs 1.5/5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Отказоустойчивость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Деградация при недоступности timer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Анализ завершён без блока Помодоро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66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ВКР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Миамбо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Жуниор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22860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ProductiveSocial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ВКР, 2025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669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06240" y="5669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Микросервисная платформа: 4 сервиса, независимое развёртывание, отказоустойчивость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1298448"/>
            <a:ext cx="5120640" cy="13716"/>
          </a:xfrm>
          <a:prstGeom prst="rect">
            <a:avLst/>
          </a:prstGeom>
          <a:solidFill>
            <a:srgbClr val="1A3660">
              <a:alpha val="8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44475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44475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ИИ-конвейер: 6 типов анализа, RAG-паттерн, оценка 4.1/5 против 1.3/5 у baseline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749040" y="2176272"/>
            <a:ext cx="5120640" cy="13716"/>
          </a:xfrm>
          <a:prstGeom prst="rect">
            <a:avLst/>
          </a:prstGeom>
          <a:solidFill>
            <a:srgbClr val="1A3660">
              <a:alpha val="8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3225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232257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KMP-приложение: идемпотентная синхронизация, SQLDelight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749040" y="3054096"/>
            <a:ext cx="5120640" cy="13716"/>
          </a:xfrm>
          <a:prstGeom prst="rect">
            <a:avLst/>
          </a:prstGeom>
          <a:solidFill>
            <a:srgbClr val="1A3660">
              <a:alpha val="80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20040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0624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задокументированных экспериментов (функциональность, ML-качество, надёжность)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749040" y="3931920"/>
            <a:ext cx="5120640" cy="13716"/>
          </a:xfrm>
          <a:prstGeom prst="rect">
            <a:avLst/>
          </a:prstGeom>
          <a:solidFill>
            <a:srgbClr val="1A3660">
              <a:alpha val="8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4078224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0" y="40782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готова к расширению: социальный модуль, дневник, ML-модели sklearn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3749040" y="4736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2026-05-19T08:45:53Z</dcterms:created>
  <dcterms:modified xsi:type="dcterms:W3CDTF">2026-05-19T08:45:53Z</dcterms:modified>
</cp:coreProperties>
</file>