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20"/>
    <p:restoredTop sz="94635"/>
  </p:normalViewPr>
  <p:slideViewPr>
    <p:cSldViewPr snapToGrid="0">
      <p:cViewPr varScale="1">
        <p:scale>
          <a:sx n="68" d="100"/>
          <a:sy n="68" d="100"/>
        </p:scale>
        <p:origin x="240" y="18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742EA9-1E17-7F41-87EF-A1324CF08561}" type="datetimeFigureOut">
              <a:rPr lang="en-US" smtClean="0"/>
              <a:t>10/8/25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DCDB5B-6D85-A049-88AB-C61CE7B7110B}" type="slidenum">
              <a:rPr lang="en-US" smtClean="0"/>
              <a:t>‹#›</a:t>
            </a:fld>
            <a:endParaRPr lang="en-US"/>
          </a:p>
        </p:txBody>
      </p:sp>
    </p:spTree>
    <p:extLst>
      <p:ext uri="{BB962C8B-B14F-4D97-AF65-F5344CB8AC3E}">
        <p14:creationId xmlns:p14="http://schemas.microsoft.com/office/powerpoint/2010/main" val="1282722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DCDB5B-6D85-A049-88AB-C61CE7B7110B}" type="slidenum">
              <a:rPr lang="en-US" smtClean="0"/>
              <a:t>5</a:t>
            </a:fld>
            <a:endParaRPr lang="en-US"/>
          </a:p>
        </p:txBody>
      </p:sp>
    </p:spTree>
    <p:extLst>
      <p:ext uri="{BB962C8B-B14F-4D97-AF65-F5344CB8AC3E}">
        <p14:creationId xmlns:p14="http://schemas.microsoft.com/office/powerpoint/2010/main" val="1104588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8DCDB5B-6D85-A049-88AB-C61CE7B7110B}" type="slidenum">
              <a:rPr lang="en-US" smtClean="0"/>
              <a:t>6</a:t>
            </a:fld>
            <a:endParaRPr lang="en-US"/>
          </a:p>
        </p:txBody>
      </p:sp>
    </p:spTree>
    <p:extLst>
      <p:ext uri="{BB962C8B-B14F-4D97-AF65-F5344CB8AC3E}">
        <p14:creationId xmlns:p14="http://schemas.microsoft.com/office/powerpoint/2010/main" val="27238968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01371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557503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72621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377385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513267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188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925322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843541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756440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603641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10/7/25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41170804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10/7/25</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39532286"/>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0FA88D0-E295-4CF3-934C-6423EACEB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lack rose in front of a sign&#10;&#10;AI-generated content may be incorrect.">
            <a:extLst>
              <a:ext uri="{FF2B5EF4-FFF2-40B4-BE49-F238E27FC236}">
                <a16:creationId xmlns:a16="http://schemas.microsoft.com/office/drawing/2014/main" id="{5E65DFB4-7926-D3B3-BF56-B81D829E8819}"/>
              </a:ext>
            </a:extLst>
          </p:cNvPr>
          <p:cNvPicPr>
            <a:picLocks noChangeAspect="1"/>
          </p:cNvPicPr>
          <p:nvPr/>
        </p:nvPicPr>
        <p:blipFill>
          <a:blip r:embed="rId2">
            <a:alphaModFix amt="40000"/>
          </a:blip>
          <a:srcRect t="27102" r="-1" b="16633"/>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49FB0BAA-38DF-45F6-6522-E0B6E35DBB5F}"/>
              </a:ext>
            </a:extLst>
          </p:cNvPr>
          <p:cNvSpPr>
            <a:spLocks noGrp="1"/>
          </p:cNvSpPr>
          <p:nvPr>
            <p:ph type="ctrTitle"/>
          </p:nvPr>
        </p:nvSpPr>
        <p:spPr>
          <a:xfrm>
            <a:off x="482600" y="732032"/>
            <a:ext cx="10775950" cy="2258809"/>
          </a:xfrm>
        </p:spPr>
        <p:txBody>
          <a:bodyPr anchor="t">
            <a:normAutofit fontScale="90000"/>
          </a:bodyPr>
          <a:lstStyle/>
          <a:p>
            <a:r>
              <a:rPr lang="en-US" sz="8000" dirty="0">
                <a:solidFill>
                  <a:srgbClr val="FFFFFF"/>
                </a:solidFill>
              </a:rPr>
              <a:t>Productive Social</a:t>
            </a:r>
            <a:br>
              <a:rPr lang="en-US" sz="8000" dirty="0">
                <a:solidFill>
                  <a:srgbClr val="FFFFFF"/>
                </a:solidFill>
              </a:rPr>
            </a:br>
            <a:r>
              <a:rPr lang="en-US" sz="3100" dirty="0">
                <a:solidFill>
                  <a:srgbClr val="FFFFFF"/>
                </a:solidFill>
              </a:rPr>
              <a:t>Be your most productive self</a:t>
            </a:r>
            <a:br>
              <a:rPr lang="en-US" sz="8000" dirty="0">
                <a:solidFill>
                  <a:srgbClr val="FFFFFF"/>
                </a:solidFill>
              </a:rPr>
            </a:br>
            <a:endParaRPr lang="en-US" sz="8000" dirty="0">
              <a:solidFill>
                <a:srgbClr val="FFFFFF"/>
              </a:solidFill>
            </a:endParaRPr>
          </a:p>
        </p:txBody>
      </p:sp>
      <p:sp>
        <p:nvSpPr>
          <p:cNvPr id="3" name="Subtitle 2">
            <a:extLst>
              <a:ext uri="{FF2B5EF4-FFF2-40B4-BE49-F238E27FC236}">
                <a16:creationId xmlns:a16="http://schemas.microsoft.com/office/drawing/2014/main" id="{B3D87292-AFB5-7560-5EE8-475B1DF1B24B}"/>
              </a:ext>
            </a:extLst>
          </p:cNvPr>
          <p:cNvSpPr>
            <a:spLocks noGrp="1"/>
          </p:cNvSpPr>
          <p:nvPr>
            <p:ph type="subTitle" idx="1"/>
          </p:nvPr>
        </p:nvSpPr>
        <p:spPr>
          <a:xfrm>
            <a:off x="482600" y="5200650"/>
            <a:ext cx="7861300" cy="1167485"/>
          </a:xfrm>
        </p:spPr>
        <p:txBody>
          <a:bodyPr anchor="b">
            <a:normAutofit/>
          </a:bodyPr>
          <a:lstStyle/>
          <a:p>
            <a:r>
              <a:rPr lang="en-US" dirty="0">
                <a:solidFill>
                  <a:srgbClr val="FFFFFF"/>
                </a:solidFill>
              </a:rPr>
              <a:t>Ricardo </a:t>
            </a:r>
            <a:r>
              <a:rPr lang="en-US" dirty="0" err="1">
                <a:solidFill>
                  <a:srgbClr val="FFFFFF"/>
                </a:solidFill>
              </a:rPr>
              <a:t>Miambo</a:t>
            </a:r>
            <a:r>
              <a:rPr lang="en-US" dirty="0">
                <a:solidFill>
                  <a:srgbClr val="FFFFFF"/>
                </a:solidFill>
              </a:rPr>
              <a:t> Junior</a:t>
            </a:r>
          </a:p>
        </p:txBody>
      </p:sp>
      <p:cxnSp>
        <p:nvCxnSpPr>
          <p:cNvPr id="18" name="Straight Connector 17">
            <a:extLst>
              <a:ext uri="{FF2B5EF4-FFF2-40B4-BE49-F238E27FC236}">
                <a16:creationId xmlns:a16="http://schemas.microsoft.com/office/drawing/2014/main" id="{8F4E56A8-93D5-4BE3-AE61-84677331AD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BD492A0C-1773-477B-83B5-C707CB057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19304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3" name="Straight Connector 42">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E48FA233-30DB-4D0A-BF51-78D03F79F2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useBgFill="1">
        <p:nvSpPr>
          <p:cNvPr id="51" name="Rectangle 50">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Content Placeholder 22" descr="A notebook with a pen and a flower on it&#10;&#10;AI-generated content may be incorrect.">
            <a:extLst>
              <a:ext uri="{FF2B5EF4-FFF2-40B4-BE49-F238E27FC236}">
                <a16:creationId xmlns:a16="http://schemas.microsoft.com/office/drawing/2014/main" id="{BAFA6772-D8CA-9DD3-58A7-3FF0A7D96284}"/>
              </a:ext>
            </a:extLst>
          </p:cNvPr>
          <p:cNvPicPr>
            <a:picLocks noGrp="1" noChangeAspect="1"/>
          </p:cNvPicPr>
          <p:nvPr>
            <p:ph idx="1"/>
          </p:nvPr>
        </p:nvPicPr>
        <p:blipFill>
          <a:blip r:embed="rId2">
            <a:alphaModFix/>
          </a:blip>
          <a:srcRect t="18328" r="-1" b="25408"/>
          <a:stretch>
            <a:fillRect/>
          </a:stretch>
        </p:blipFill>
        <p:spPr>
          <a:xfrm>
            <a:off x="88299" y="-1"/>
            <a:ext cx="12188932" cy="6858000"/>
          </a:xfrm>
          <a:prstGeom prst="rect">
            <a:avLst/>
          </a:prstGeom>
        </p:spPr>
      </p:pic>
      <p:sp>
        <p:nvSpPr>
          <p:cNvPr id="53" name="Rectangle 52">
            <a:extLst>
              <a:ext uri="{FF2B5EF4-FFF2-40B4-BE49-F238E27FC236}">
                <a16:creationId xmlns:a16="http://schemas.microsoft.com/office/drawing/2014/main" id="{C89012F3-E872-4965-8202-7945C4E70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89239" y="-389238"/>
            <a:ext cx="6858000" cy="7636476"/>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7C56DD-17AF-14A4-4D54-A7BCA2183A42}"/>
              </a:ext>
            </a:extLst>
          </p:cNvPr>
          <p:cNvSpPr>
            <a:spLocks noGrp="1"/>
          </p:cNvSpPr>
          <p:nvPr>
            <p:ph type="title"/>
          </p:nvPr>
        </p:nvSpPr>
        <p:spPr>
          <a:xfrm>
            <a:off x="482600" y="1462780"/>
            <a:ext cx="4443554" cy="2049140"/>
          </a:xfrm>
        </p:spPr>
        <p:txBody>
          <a:bodyPr vert="horz" lIns="91440" tIns="45720" rIns="91440" bIns="45720" rtlCol="0" anchor="b">
            <a:noAutofit/>
          </a:bodyPr>
          <a:lstStyle/>
          <a:p>
            <a:r>
              <a:rPr lang="en-US" sz="3200" dirty="0">
                <a:solidFill>
                  <a:srgbClr val="FFFFFF"/>
                </a:solidFill>
                <a:highlight>
                  <a:srgbClr val="000000"/>
                </a:highlight>
              </a:rPr>
              <a:t>Task management</a:t>
            </a:r>
            <a:br>
              <a:rPr lang="en-US" sz="3200" dirty="0">
                <a:solidFill>
                  <a:srgbClr val="FFFFFF"/>
                </a:solidFill>
                <a:highlight>
                  <a:srgbClr val="000000"/>
                </a:highlight>
              </a:rPr>
            </a:br>
            <a:r>
              <a:rPr lang="en-US" sz="3200" dirty="0">
                <a:solidFill>
                  <a:srgbClr val="FFFFFF"/>
                </a:solidFill>
                <a:highlight>
                  <a:srgbClr val="000000"/>
                </a:highlight>
              </a:rPr>
              <a:t>Journaling</a:t>
            </a:r>
            <a:br>
              <a:rPr lang="en-US" sz="3200" dirty="0">
                <a:solidFill>
                  <a:srgbClr val="FFFFFF"/>
                </a:solidFill>
                <a:highlight>
                  <a:srgbClr val="000000"/>
                </a:highlight>
              </a:rPr>
            </a:br>
            <a:r>
              <a:rPr lang="en-US" sz="3200" dirty="0">
                <a:solidFill>
                  <a:srgbClr val="FFFFFF"/>
                </a:solidFill>
                <a:highlight>
                  <a:srgbClr val="000000"/>
                </a:highlight>
              </a:rPr>
              <a:t>Calendar &amp; scheduling</a:t>
            </a:r>
            <a:br>
              <a:rPr lang="en-US" sz="3200" dirty="0">
                <a:solidFill>
                  <a:srgbClr val="FFFFFF"/>
                </a:solidFill>
                <a:highlight>
                  <a:srgbClr val="000000"/>
                </a:highlight>
              </a:rPr>
            </a:br>
            <a:r>
              <a:rPr lang="en-US" sz="3200" dirty="0">
                <a:solidFill>
                  <a:srgbClr val="FFFFFF"/>
                </a:solidFill>
                <a:highlight>
                  <a:srgbClr val="000000"/>
                </a:highlight>
              </a:rPr>
              <a:t>Communication</a:t>
            </a:r>
            <a:endParaRPr lang="en-US" sz="3200" b="1" dirty="0">
              <a:solidFill>
                <a:srgbClr val="FFFFFF"/>
              </a:solidFill>
            </a:endParaRPr>
          </a:p>
        </p:txBody>
      </p:sp>
      <p:cxnSp>
        <p:nvCxnSpPr>
          <p:cNvPr id="55" name="Straight Connector 54">
            <a:extLst>
              <a:ext uri="{FF2B5EF4-FFF2-40B4-BE49-F238E27FC236}">
                <a16:creationId xmlns:a16="http://schemas.microsoft.com/office/drawing/2014/main" id="{8F4E56A8-93D5-4BE3-AE61-84677331AD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34921031-DE97-4979-8D9E-C47904360F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391545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BD492A0C-1773-477B-83B5-C707CB057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27" name="TextBox 26">
            <a:extLst>
              <a:ext uri="{FF2B5EF4-FFF2-40B4-BE49-F238E27FC236}">
                <a16:creationId xmlns:a16="http://schemas.microsoft.com/office/drawing/2014/main" id="{B9A2924B-6FDB-D7BD-FD6D-7D6BDBEC22E3}"/>
              </a:ext>
            </a:extLst>
          </p:cNvPr>
          <p:cNvSpPr txBox="1"/>
          <p:nvPr/>
        </p:nvSpPr>
        <p:spPr>
          <a:xfrm>
            <a:off x="4453653" y="4957132"/>
            <a:ext cx="3281669" cy="769441"/>
          </a:xfrm>
          <a:prstGeom prst="rect">
            <a:avLst/>
          </a:prstGeom>
          <a:noFill/>
        </p:spPr>
        <p:txBody>
          <a:bodyPr wrap="none" rtlCol="0">
            <a:spAutoFit/>
          </a:bodyPr>
          <a:lstStyle/>
          <a:p>
            <a:pPr algn="ctr"/>
            <a:r>
              <a:rPr lang="en-US" sz="4400" b="1" dirty="0">
                <a:solidFill>
                  <a:srgbClr val="FFFFFF"/>
                </a:solidFill>
                <a:highlight>
                  <a:srgbClr val="000000"/>
                </a:highlight>
              </a:rPr>
              <a:t>All gamified</a:t>
            </a:r>
            <a:endParaRPr lang="en-US" sz="4400" dirty="0">
              <a:highlight>
                <a:srgbClr val="000000"/>
              </a:highlight>
            </a:endParaRPr>
          </a:p>
        </p:txBody>
      </p:sp>
      <p:sp>
        <p:nvSpPr>
          <p:cNvPr id="29" name="TextBox 28">
            <a:extLst>
              <a:ext uri="{FF2B5EF4-FFF2-40B4-BE49-F238E27FC236}">
                <a16:creationId xmlns:a16="http://schemas.microsoft.com/office/drawing/2014/main" id="{01C0425F-9465-964C-DEE1-0BB28F34777D}"/>
              </a:ext>
            </a:extLst>
          </p:cNvPr>
          <p:cNvSpPr txBox="1"/>
          <p:nvPr/>
        </p:nvSpPr>
        <p:spPr>
          <a:xfrm>
            <a:off x="7543624" y="1449817"/>
            <a:ext cx="4178901" cy="2062103"/>
          </a:xfrm>
          <a:prstGeom prst="rect">
            <a:avLst/>
          </a:prstGeom>
          <a:noFill/>
        </p:spPr>
        <p:txBody>
          <a:bodyPr wrap="none" rtlCol="0">
            <a:spAutoFit/>
          </a:bodyPr>
          <a:lstStyle/>
          <a:p>
            <a:r>
              <a:rPr lang="en-US" sz="3200" dirty="0">
                <a:solidFill>
                  <a:schemeClr val="bg1"/>
                </a:solidFill>
                <a:highlight>
                  <a:srgbClr val="000000"/>
                </a:highlight>
              </a:rPr>
              <a:t>Time tracking &amp; Focus</a:t>
            </a:r>
            <a:br>
              <a:rPr lang="en-US" sz="3200" dirty="0">
                <a:solidFill>
                  <a:schemeClr val="bg1"/>
                </a:solidFill>
                <a:highlight>
                  <a:srgbClr val="000000"/>
                </a:highlight>
              </a:rPr>
            </a:br>
            <a:r>
              <a:rPr lang="en-US" sz="3200" dirty="0">
                <a:solidFill>
                  <a:schemeClr val="bg1"/>
                </a:solidFill>
                <a:highlight>
                  <a:srgbClr val="000000"/>
                </a:highlight>
              </a:rPr>
              <a:t>Habit building</a:t>
            </a:r>
            <a:br>
              <a:rPr lang="en-US" sz="3200" dirty="0">
                <a:solidFill>
                  <a:schemeClr val="bg1"/>
                </a:solidFill>
                <a:highlight>
                  <a:srgbClr val="000000"/>
                </a:highlight>
              </a:rPr>
            </a:br>
            <a:r>
              <a:rPr lang="en-US" sz="3200" dirty="0">
                <a:solidFill>
                  <a:schemeClr val="bg1"/>
                </a:solidFill>
                <a:highlight>
                  <a:srgbClr val="000000"/>
                </a:highlight>
              </a:rPr>
              <a:t>Mindfulness</a:t>
            </a:r>
            <a:br>
              <a:rPr lang="en-US" sz="3200" dirty="0">
                <a:solidFill>
                  <a:schemeClr val="bg1"/>
                </a:solidFill>
                <a:highlight>
                  <a:srgbClr val="000000"/>
                </a:highlight>
              </a:rPr>
            </a:br>
            <a:r>
              <a:rPr lang="en-US" sz="3200" dirty="0">
                <a:solidFill>
                  <a:schemeClr val="bg1"/>
                </a:solidFill>
                <a:highlight>
                  <a:srgbClr val="000000"/>
                </a:highlight>
              </a:rPr>
              <a:t>Journaling</a:t>
            </a:r>
          </a:p>
        </p:txBody>
      </p:sp>
      <p:sp>
        <p:nvSpPr>
          <p:cNvPr id="31" name="TextBox 30">
            <a:extLst>
              <a:ext uri="{FF2B5EF4-FFF2-40B4-BE49-F238E27FC236}">
                <a16:creationId xmlns:a16="http://schemas.microsoft.com/office/drawing/2014/main" id="{1B5AEA27-1897-02E9-0753-B0B80604F154}"/>
              </a:ext>
            </a:extLst>
          </p:cNvPr>
          <p:cNvSpPr txBox="1"/>
          <p:nvPr/>
        </p:nvSpPr>
        <p:spPr>
          <a:xfrm>
            <a:off x="4184020" y="777478"/>
            <a:ext cx="3744230" cy="707886"/>
          </a:xfrm>
          <a:prstGeom prst="rect">
            <a:avLst/>
          </a:prstGeom>
          <a:noFill/>
        </p:spPr>
        <p:txBody>
          <a:bodyPr wrap="none" rtlCol="0">
            <a:spAutoFit/>
          </a:bodyPr>
          <a:lstStyle/>
          <a:p>
            <a:pPr algn="ctr"/>
            <a:r>
              <a:rPr lang="en-US" sz="4000" dirty="0">
                <a:solidFill>
                  <a:srgbClr val="FFFFFF"/>
                </a:solidFill>
                <a:highlight>
                  <a:srgbClr val="000000"/>
                </a:highlight>
              </a:rPr>
              <a:t>A super app for:</a:t>
            </a:r>
            <a:endParaRPr lang="en-US" sz="4000" dirty="0">
              <a:highlight>
                <a:srgbClr val="000000"/>
              </a:highlight>
            </a:endParaRPr>
          </a:p>
        </p:txBody>
      </p:sp>
    </p:spTree>
    <p:extLst>
      <p:ext uri="{BB962C8B-B14F-4D97-AF65-F5344CB8AC3E}">
        <p14:creationId xmlns:p14="http://schemas.microsoft.com/office/powerpoint/2010/main" val="12578328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C34B9DE3-1715-4EE3-99FA-C9BC12F5D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descr="A black rose in front of a city&#10;&#10;AI-generated content may be incorrect.">
            <a:extLst>
              <a:ext uri="{FF2B5EF4-FFF2-40B4-BE49-F238E27FC236}">
                <a16:creationId xmlns:a16="http://schemas.microsoft.com/office/drawing/2014/main" id="{F634F314-F09E-6218-5A64-F07E435240B1}"/>
              </a:ext>
            </a:extLst>
          </p:cNvPr>
          <p:cNvPicPr>
            <a:picLocks noChangeAspect="1"/>
          </p:cNvPicPr>
          <p:nvPr/>
        </p:nvPicPr>
        <p:blipFill>
          <a:blip r:embed="rId2">
            <a:alphaModFix amt="40000"/>
          </a:blip>
          <a:srcRect t="9699" r="-1" b="34037"/>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B94BFD2D-EFC0-96A4-7B34-BBC5CED000FD}"/>
              </a:ext>
            </a:extLst>
          </p:cNvPr>
          <p:cNvSpPr>
            <a:spLocks noGrp="1"/>
          </p:cNvSpPr>
          <p:nvPr>
            <p:ph type="title"/>
          </p:nvPr>
        </p:nvSpPr>
        <p:spPr>
          <a:xfrm>
            <a:off x="482601" y="799419"/>
            <a:ext cx="5613398" cy="2329806"/>
          </a:xfrm>
        </p:spPr>
        <p:txBody>
          <a:bodyPr vert="horz" lIns="91440" tIns="45720" rIns="91440" bIns="45720" rtlCol="0" anchor="t">
            <a:normAutofit fontScale="90000"/>
          </a:bodyPr>
          <a:lstStyle/>
          <a:p>
            <a:pPr>
              <a:lnSpc>
                <a:spcPct val="90000"/>
              </a:lnSpc>
            </a:pPr>
            <a:r>
              <a:rPr lang="en-US" sz="5100" dirty="0">
                <a:solidFill>
                  <a:srgbClr val="FFFFFF"/>
                </a:solidFill>
              </a:rPr>
              <a:t>The problem with top productivity apps for all systems</a:t>
            </a:r>
          </a:p>
        </p:txBody>
      </p:sp>
      <p:cxnSp>
        <p:nvCxnSpPr>
          <p:cNvPr id="69" name="Straight Connector 68">
            <a:extLst>
              <a:ext uri="{FF2B5EF4-FFF2-40B4-BE49-F238E27FC236}">
                <a16:creationId xmlns:a16="http://schemas.microsoft.com/office/drawing/2014/main" id="{6108BD3D-CFD0-4A15-ACF6-EBC254CD7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4504E7DF-D966-4152-E594-BAB435685042}"/>
              </a:ext>
            </a:extLst>
          </p:cNvPr>
          <p:cNvSpPr txBox="1"/>
          <p:nvPr/>
        </p:nvSpPr>
        <p:spPr>
          <a:xfrm>
            <a:off x="6949959" y="3129224"/>
            <a:ext cx="4679712" cy="3006185"/>
          </a:xfrm>
          <a:prstGeom prst="rect">
            <a:avLst/>
          </a:prstGeom>
        </p:spPr>
        <p:txBody>
          <a:bodyPr vert="horz" lIns="91440" tIns="45720" rIns="91440" bIns="45720" rtlCol="0" anchor="b">
            <a:normAutofit fontScale="92500"/>
          </a:bodyPr>
          <a:lstStyle/>
          <a:p>
            <a:pPr>
              <a:lnSpc>
                <a:spcPct val="110000"/>
              </a:lnSpc>
              <a:spcAft>
                <a:spcPts val="600"/>
              </a:spcAft>
              <a:buFont typeface="Arial" panose="020B0604020202020204" pitchFamily="34" charset="0"/>
            </a:pPr>
            <a:r>
              <a:rPr lang="en-US" sz="2800" dirty="0">
                <a:solidFill>
                  <a:srgbClr val="FFFFFF"/>
                </a:solidFill>
              </a:rPr>
              <a:t>Productive Social aims to replace these apps</a:t>
            </a:r>
          </a:p>
          <a:p>
            <a:pPr>
              <a:lnSpc>
                <a:spcPct val="110000"/>
              </a:lnSpc>
              <a:spcAft>
                <a:spcPts val="600"/>
              </a:spcAft>
              <a:buFont typeface="Arial" panose="020B0604020202020204" pitchFamily="34" charset="0"/>
            </a:pPr>
            <a:r>
              <a:rPr lang="en-US" sz="2800" dirty="0">
                <a:solidFill>
                  <a:srgbClr val="FFFFFF"/>
                </a:solidFill>
              </a:rPr>
              <a:t>With all data combined in one app, PS is guaranteed to produce better performance analyses then the opponents.</a:t>
            </a:r>
          </a:p>
        </p:txBody>
      </p:sp>
      <p:cxnSp>
        <p:nvCxnSpPr>
          <p:cNvPr id="75" name="Straight Connector 74">
            <a:extLst>
              <a:ext uri="{FF2B5EF4-FFF2-40B4-BE49-F238E27FC236}">
                <a16:creationId xmlns:a16="http://schemas.microsoft.com/office/drawing/2014/main" id="{DB2019E5-6C31-4640-A135-6BBA7FFCF6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C7CD1E7D-E3CD-2F35-FCA4-464DCEA74539}"/>
              </a:ext>
            </a:extLst>
          </p:cNvPr>
          <p:cNvSpPr txBox="1"/>
          <p:nvPr/>
        </p:nvSpPr>
        <p:spPr>
          <a:xfrm>
            <a:off x="6949960" y="722537"/>
            <a:ext cx="4480039" cy="1569660"/>
          </a:xfrm>
          <a:prstGeom prst="rect">
            <a:avLst/>
          </a:prstGeom>
          <a:noFill/>
        </p:spPr>
        <p:txBody>
          <a:bodyPr wrap="square" numCol="2" rtlCol="0">
            <a:spAutoFit/>
          </a:bodyPr>
          <a:lstStyle/>
          <a:p>
            <a:r>
              <a:rPr lang="en-US" sz="2400" dirty="0">
                <a:solidFill>
                  <a:schemeClr val="bg1"/>
                </a:solidFill>
              </a:rPr>
              <a:t>Notion</a:t>
            </a:r>
          </a:p>
          <a:p>
            <a:r>
              <a:rPr lang="en-US" sz="2400" dirty="0" err="1">
                <a:solidFill>
                  <a:schemeClr val="bg1"/>
                </a:solidFill>
              </a:rPr>
              <a:t>Trelio</a:t>
            </a:r>
            <a:endParaRPr lang="en-US" sz="2400" dirty="0">
              <a:solidFill>
                <a:schemeClr val="bg1"/>
              </a:solidFill>
            </a:endParaRPr>
          </a:p>
          <a:p>
            <a:r>
              <a:rPr lang="en-US" sz="2400" dirty="0">
                <a:solidFill>
                  <a:schemeClr val="bg1"/>
                </a:solidFill>
              </a:rPr>
              <a:t>Forest</a:t>
            </a:r>
          </a:p>
          <a:p>
            <a:r>
              <a:rPr lang="en-US" sz="2400" dirty="0" err="1">
                <a:solidFill>
                  <a:schemeClr val="bg1"/>
                </a:solidFill>
              </a:rPr>
              <a:t>Habitica</a:t>
            </a:r>
            <a:endParaRPr lang="en-US" sz="2400" dirty="0">
              <a:solidFill>
                <a:schemeClr val="bg1"/>
              </a:solidFill>
            </a:endParaRPr>
          </a:p>
          <a:p>
            <a:r>
              <a:rPr lang="en-US" sz="2400" dirty="0" err="1">
                <a:solidFill>
                  <a:schemeClr val="bg1"/>
                </a:solidFill>
              </a:rPr>
              <a:t>Diarly</a:t>
            </a:r>
            <a:endParaRPr lang="en-US" sz="2400" dirty="0">
              <a:solidFill>
                <a:schemeClr val="bg1"/>
              </a:solidFill>
            </a:endParaRPr>
          </a:p>
          <a:p>
            <a:r>
              <a:rPr lang="en-US" sz="2400" dirty="0">
                <a:solidFill>
                  <a:schemeClr val="bg1"/>
                </a:solidFill>
              </a:rPr>
              <a:t>Joplin</a:t>
            </a:r>
          </a:p>
          <a:p>
            <a:r>
              <a:rPr lang="en-US" sz="2400" dirty="0" err="1">
                <a:solidFill>
                  <a:schemeClr val="bg1"/>
                </a:solidFill>
              </a:rPr>
              <a:t>Habitify</a:t>
            </a:r>
            <a:endParaRPr lang="en-US" sz="2400" dirty="0">
              <a:solidFill>
                <a:schemeClr val="bg1"/>
              </a:solidFill>
            </a:endParaRPr>
          </a:p>
          <a:p>
            <a:r>
              <a:rPr lang="en-US" sz="2400" dirty="0" err="1">
                <a:solidFill>
                  <a:schemeClr val="bg1"/>
                </a:solidFill>
              </a:rPr>
              <a:t>Promodone</a:t>
            </a:r>
            <a:endParaRPr lang="en-US" sz="2400" dirty="0">
              <a:solidFill>
                <a:schemeClr val="bg1"/>
              </a:solidFill>
            </a:endParaRPr>
          </a:p>
        </p:txBody>
      </p:sp>
      <p:sp>
        <p:nvSpPr>
          <p:cNvPr id="28" name="TextBox 27">
            <a:extLst>
              <a:ext uri="{FF2B5EF4-FFF2-40B4-BE49-F238E27FC236}">
                <a16:creationId xmlns:a16="http://schemas.microsoft.com/office/drawing/2014/main" id="{34949413-ECB6-0091-AB69-C863FEB573E7}"/>
              </a:ext>
            </a:extLst>
          </p:cNvPr>
          <p:cNvSpPr txBox="1"/>
          <p:nvPr/>
        </p:nvSpPr>
        <p:spPr>
          <a:xfrm>
            <a:off x="482600" y="3438788"/>
            <a:ext cx="4832349" cy="2726900"/>
          </a:xfrm>
          <a:prstGeom prst="rect">
            <a:avLst/>
          </a:prstGeom>
          <a:noFill/>
        </p:spPr>
        <p:txBody>
          <a:bodyPr wrap="square" rtlCol="0">
            <a:spAutoFit/>
          </a:bodyPr>
          <a:lstStyle/>
          <a:p>
            <a:pPr>
              <a:lnSpc>
                <a:spcPct val="90000"/>
              </a:lnSpc>
              <a:spcAft>
                <a:spcPts val="600"/>
              </a:spcAft>
              <a:buFont typeface="Arial" panose="020B0604020202020204" pitchFamily="34" charset="0"/>
            </a:pPr>
            <a:r>
              <a:rPr lang="en-US" sz="2400" dirty="0">
                <a:solidFill>
                  <a:srgbClr val="FFFFFF"/>
                </a:solidFill>
              </a:rPr>
              <a:t>They are all isolated in one specific problem they took to solve</a:t>
            </a:r>
          </a:p>
          <a:p>
            <a:pPr>
              <a:lnSpc>
                <a:spcPct val="90000"/>
              </a:lnSpc>
              <a:spcAft>
                <a:spcPts val="600"/>
              </a:spcAft>
              <a:buFont typeface="Arial" panose="020B0604020202020204" pitchFamily="34" charset="0"/>
            </a:pPr>
            <a:endParaRPr lang="en-US" sz="2400" dirty="0">
              <a:solidFill>
                <a:srgbClr val="FFFFFF"/>
              </a:solidFill>
            </a:endParaRPr>
          </a:p>
          <a:p>
            <a:pPr>
              <a:lnSpc>
                <a:spcPct val="90000"/>
              </a:lnSpc>
              <a:spcAft>
                <a:spcPts val="600"/>
              </a:spcAft>
              <a:buFont typeface="Arial" panose="020B0604020202020204" pitchFamily="34" charset="0"/>
            </a:pPr>
            <a:r>
              <a:rPr lang="en-US" sz="2400" dirty="0">
                <a:solidFill>
                  <a:srgbClr val="FFFFFF"/>
                </a:solidFill>
              </a:rPr>
              <a:t>Each app generates its own data</a:t>
            </a:r>
          </a:p>
          <a:p>
            <a:pPr>
              <a:lnSpc>
                <a:spcPct val="90000"/>
              </a:lnSpc>
              <a:spcAft>
                <a:spcPts val="600"/>
              </a:spcAft>
              <a:buFont typeface="Arial" panose="020B0604020202020204" pitchFamily="34" charset="0"/>
            </a:pPr>
            <a:endParaRPr lang="en-US" sz="2400" dirty="0">
              <a:solidFill>
                <a:srgbClr val="FFFFFF"/>
              </a:solidFill>
            </a:endParaRPr>
          </a:p>
          <a:p>
            <a:pPr>
              <a:lnSpc>
                <a:spcPct val="90000"/>
              </a:lnSpc>
              <a:spcAft>
                <a:spcPts val="600"/>
              </a:spcAft>
              <a:buFont typeface="Arial" panose="020B0604020202020204" pitchFamily="34" charset="0"/>
            </a:pPr>
            <a:r>
              <a:rPr lang="en-US" sz="2400" dirty="0">
                <a:solidFill>
                  <a:srgbClr val="FFFFFF"/>
                </a:solidFill>
              </a:rPr>
              <a:t>Users tend to use more than two apps</a:t>
            </a:r>
            <a:endParaRPr lang="en-US" sz="2400" dirty="0"/>
          </a:p>
        </p:txBody>
      </p:sp>
    </p:spTree>
    <p:extLst>
      <p:ext uri="{BB962C8B-B14F-4D97-AF65-F5344CB8AC3E}">
        <p14:creationId xmlns:p14="http://schemas.microsoft.com/office/powerpoint/2010/main" val="3334812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34B9DE3-1715-4EE3-99FA-C9BC12F5D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rose in a glass jar&#10;&#10;AI-generated content may be incorrect.">
            <a:extLst>
              <a:ext uri="{FF2B5EF4-FFF2-40B4-BE49-F238E27FC236}">
                <a16:creationId xmlns:a16="http://schemas.microsoft.com/office/drawing/2014/main" id="{861A5CE6-FFFE-CD5F-C9B6-0CC1E59421DA}"/>
              </a:ext>
            </a:extLst>
          </p:cNvPr>
          <p:cNvPicPr>
            <a:picLocks noChangeAspect="1"/>
          </p:cNvPicPr>
          <p:nvPr/>
        </p:nvPicPr>
        <p:blipFill>
          <a:blip r:embed="rId2">
            <a:alphaModFix amt="40000"/>
          </a:blip>
          <a:srcRect t="20076" r="-1" b="23659"/>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F6C1C7B1-F180-3BD9-19B1-CD99337F519B}"/>
              </a:ext>
            </a:extLst>
          </p:cNvPr>
          <p:cNvSpPr>
            <a:spLocks noGrp="1"/>
          </p:cNvSpPr>
          <p:nvPr>
            <p:ph type="title"/>
          </p:nvPr>
        </p:nvSpPr>
        <p:spPr>
          <a:xfrm>
            <a:off x="482600" y="799419"/>
            <a:ext cx="10242549" cy="2191432"/>
          </a:xfrm>
        </p:spPr>
        <p:txBody>
          <a:bodyPr anchor="t">
            <a:normAutofit/>
          </a:bodyPr>
          <a:lstStyle/>
          <a:p>
            <a:pPr>
              <a:lnSpc>
                <a:spcPct val="90000"/>
              </a:lnSpc>
            </a:pPr>
            <a:r>
              <a:rPr lang="en-US" dirty="0">
                <a:solidFill>
                  <a:srgbClr val="FFFFFF"/>
                </a:solidFill>
              </a:rPr>
              <a:t>What’s unique it’s also the main downfall</a:t>
            </a:r>
          </a:p>
        </p:txBody>
      </p:sp>
      <p:cxnSp>
        <p:nvCxnSpPr>
          <p:cNvPr id="14" name="Straight Connector 13">
            <a:extLst>
              <a:ext uri="{FF2B5EF4-FFF2-40B4-BE49-F238E27FC236}">
                <a16:creationId xmlns:a16="http://schemas.microsoft.com/office/drawing/2014/main" id="{6108BD3D-CFD0-4A15-ACF6-EBC254CD7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DC06D02F-6D0B-50AD-DD0B-3609A043312C}"/>
              </a:ext>
            </a:extLst>
          </p:cNvPr>
          <p:cNvSpPr>
            <a:spLocks noGrp="1"/>
          </p:cNvSpPr>
          <p:nvPr>
            <p:ph idx="1"/>
          </p:nvPr>
        </p:nvSpPr>
        <p:spPr>
          <a:xfrm>
            <a:off x="4991101" y="3129219"/>
            <a:ext cx="6638570" cy="2899237"/>
          </a:xfrm>
        </p:spPr>
        <p:txBody>
          <a:bodyPr anchor="b">
            <a:normAutofit lnSpcReduction="10000"/>
          </a:bodyPr>
          <a:lstStyle/>
          <a:p>
            <a:pPr algn="r">
              <a:lnSpc>
                <a:spcPct val="90000"/>
              </a:lnSpc>
            </a:pPr>
            <a:r>
              <a:rPr lang="en-US" sz="2800" dirty="0">
                <a:solidFill>
                  <a:srgbClr val="FFFFFF"/>
                </a:solidFill>
              </a:rPr>
              <a:t>To replace a multitude of users preferred apps will be without doubt a nearly impossible task.</a:t>
            </a:r>
          </a:p>
          <a:p>
            <a:pPr algn="r">
              <a:lnSpc>
                <a:spcPct val="90000"/>
              </a:lnSpc>
            </a:pPr>
            <a:r>
              <a:rPr lang="en-US" sz="2800" dirty="0">
                <a:solidFill>
                  <a:srgbClr val="FFFFFF"/>
                </a:solidFill>
              </a:rPr>
              <a:t>While it may be hard to get users to replace their day-to-day apps, PS aims to become a habit in users' daily usage of their smartphones</a:t>
            </a:r>
          </a:p>
        </p:txBody>
      </p:sp>
      <p:cxnSp>
        <p:nvCxnSpPr>
          <p:cNvPr id="16" name="Straight Connector 15">
            <a:extLst>
              <a:ext uri="{FF2B5EF4-FFF2-40B4-BE49-F238E27FC236}">
                <a16:creationId xmlns:a16="http://schemas.microsoft.com/office/drawing/2014/main" id="{DB2019E5-6C31-4640-A135-6BBA7FFCF6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15994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34B9DE3-1715-4EE3-99FA-C9BC12F5D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ack rose with neon lights&#10;&#10;AI-generated content may be incorrect.">
            <a:extLst>
              <a:ext uri="{FF2B5EF4-FFF2-40B4-BE49-F238E27FC236}">
                <a16:creationId xmlns:a16="http://schemas.microsoft.com/office/drawing/2014/main" id="{F3DC4384-0F0F-4A97-AE2A-03A8EAE12724}"/>
              </a:ext>
            </a:extLst>
          </p:cNvPr>
          <p:cNvPicPr>
            <a:picLocks noChangeAspect="1"/>
          </p:cNvPicPr>
          <p:nvPr/>
        </p:nvPicPr>
        <p:blipFill>
          <a:blip r:embed="rId3">
            <a:alphaModFix amt="40000"/>
          </a:blip>
          <a:srcRect t="11137" r="-1" b="32599"/>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3AAA8418-5D18-F7C8-D6E6-918AE6BE4168}"/>
              </a:ext>
            </a:extLst>
          </p:cNvPr>
          <p:cNvSpPr>
            <a:spLocks noGrp="1"/>
          </p:cNvSpPr>
          <p:nvPr>
            <p:ph type="title"/>
          </p:nvPr>
        </p:nvSpPr>
        <p:spPr>
          <a:xfrm>
            <a:off x="482601" y="799419"/>
            <a:ext cx="11147070" cy="1886638"/>
          </a:xfrm>
        </p:spPr>
        <p:txBody>
          <a:bodyPr anchor="t">
            <a:normAutofit fontScale="90000"/>
          </a:bodyPr>
          <a:lstStyle/>
          <a:p>
            <a:pPr>
              <a:lnSpc>
                <a:spcPct val="90000"/>
              </a:lnSpc>
            </a:pPr>
            <a:r>
              <a:rPr lang="en-US" dirty="0">
                <a:solidFill>
                  <a:srgbClr val="FFFFFF"/>
                </a:solidFill>
              </a:rPr>
              <a:t>Social Media and Gamification</a:t>
            </a:r>
          </a:p>
        </p:txBody>
      </p:sp>
      <p:cxnSp>
        <p:nvCxnSpPr>
          <p:cNvPr id="14" name="Straight Connector 13">
            <a:extLst>
              <a:ext uri="{FF2B5EF4-FFF2-40B4-BE49-F238E27FC236}">
                <a16:creationId xmlns:a16="http://schemas.microsoft.com/office/drawing/2014/main" id="{6108BD3D-CFD0-4A15-ACF6-EBC254CD7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DB2019E5-6C31-4640-A135-6BBA7FFCF6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FA02F241-27B5-A515-51B7-0DD21A25ED57}"/>
              </a:ext>
            </a:extLst>
          </p:cNvPr>
          <p:cNvSpPr txBox="1"/>
          <p:nvPr/>
        </p:nvSpPr>
        <p:spPr>
          <a:xfrm>
            <a:off x="374967" y="2506063"/>
            <a:ext cx="11254704" cy="1938992"/>
          </a:xfrm>
          <a:prstGeom prst="rect">
            <a:avLst/>
          </a:prstGeom>
          <a:noFill/>
        </p:spPr>
        <p:txBody>
          <a:bodyPr wrap="square" rtlCol="0">
            <a:spAutoFit/>
          </a:bodyPr>
          <a:lstStyle/>
          <a:p>
            <a:r>
              <a:rPr lang="en-US" sz="2400" dirty="0">
                <a:solidFill>
                  <a:schemeClr val="bg1"/>
                </a:solidFill>
              </a:rPr>
              <a:t>By exploring already studied and documented gamification implementations of applications such as Instagram and TikTok, we should be able to keep users returning to PS for all different reasons, eventually users should opt to use all the productive features of PS and these features should drive user retention up. </a:t>
            </a:r>
          </a:p>
          <a:p>
            <a:endParaRPr lang="en-US" sz="2400" dirty="0">
              <a:solidFill>
                <a:schemeClr val="bg1"/>
              </a:solidFill>
            </a:endParaRPr>
          </a:p>
        </p:txBody>
      </p:sp>
      <p:sp>
        <p:nvSpPr>
          <p:cNvPr id="13" name="TextBox 12">
            <a:extLst>
              <a:ext uri="{FF2B5EF4-FFF2-40B4-BE49-F238E27FC236}">
                <a16:creationId xmlns:a16="http://schemas.microsoft.com/office/drawing/2014/main" id="{DB1B45E6-534B-9803-6E20-31C18BD30103}"/>
              </a:ext>
            </a:extLst>
          </p:cNvPr>
          <p:cNvSpPr txBox="1"/>
          <p:nvPr/>
        </p:nvSpPr>
        <p:spPr>
          <a:xfrm>
            <a:off x="482600" y="4702264"/>
            <a:ext cx="10356850" cy="1200329"/>
          </a:xfrm>
          <a:prstGeom prst="rect">
            <a:avLst/>
          </a:prstGeom>
          <a:noFill/>
        </p:spPr>
        <p:txBody>
          <a:bodyPr wrap="square" rtlCol="0">
            <a:spAutoFit/>
          </a:bodyPr>
          <a:lstStyle/>
          <a:p>
            <a:r>
              <a:rPr lang="en-US" sz="2400" dirty="0">
                <a:solidFill>
                  <a:schemeClr val="bg1"/>
                </a:solidFill>
              </a:rPr>
              <a:t>Users will interact with PS both when they are bored, and when they are productive.</a:t>
            </a:r>
          </a:p>
          <a:p>
            <a:endParaRPr lang="en-US" sz="2400" dirty="0">
              <a:solidFill>
                <a:schemeClr val="bg1"/>
              </a:solidFill>
            </a:endParaRPr>
          </a:p>
        </p:txBody>
      </p:sp>
    </p:spTree>
    <p:extLst>
      <p:ext uri="{BB962C8B-B14F-4D97-AF65-F5344CB8AC3E}">
        <p14:creationId xmlns:p14="http://schemas.microsoft.com/office/powerpoint/2010/main" val="993460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2B0CFF1-78D7-4A83-A95E-71F9E38316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34B9DE3-1715-4EE3-99FA-C9BC12F5D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ack rose in front of a sign&#10;&#10;AI-generated content may be incorrect.">
            <a:extLst>
              <a:ext uri="{FF2B5EF4-FFF2-40B4-BE49-F238E27FC236}">
                <a16:creationId xmlns:a16="http://schemas.microsoft.com/office/drawing/2014/main" id="{515728DF-E8C3-98DF-0479-8A19FEDCA961}"/>
              </a:ext>
            </a:extLst>
          </p:cNvPr>
          <p:cNvPicPr>
            <a:picLocks noChangeAspect="1"/>
          </p:cNvPicPr>
          <p:nvPr/>
        </p:nvPicPr>
        <p:blipFill>
          <a:blip r:embed="rId3">
            <a:alphaModFix amt="40000"/>
          </a:blip>
          <a:srcRect t="27102" r="-1" b="16633"/>
          <a:stretch>
            <a:fillRect/>
          </a:stretch>
        </p:blipFill>
        <p:spPr>
          <a:xfrm>
            <a:off x="20" y="10"/>
            <a:ext cx="12188932" cy="6857990"/>
          </a:xfrm>
          <a:prstGeom prst="rect">
            <a:avLst/>
          </a:prstGeom>
        </p:spPr>
      </p:pic>
      <p:sp>
        <p:nvSpPr>
          <p:cNvPr id="2" name="Title 1">
            <a:extLst>
              <a:ext uri="{FF2B5EF4-FFF2-40B4-BE49-F238E27FC236}">
                <a16:creationId xmlns:a16="http://schemas.microsoft.com/office/drawing/2014/main" id="{D81A1B31-B32D-C7C2-EA24-242D07A88C81}"/>
              </a:ext>
            </a:extLst>
          </p:cNvPr>
          <p:cNvSpPr>
            <a:spLocks noGrp="1"/>
          </p:cNvSpPr>
          <p:nvPr>
            <p:ph type="title"/>
          </p:nvPr>
        </p:nvSpPr>
        <p:spPr>
          <a:xfrm>
            <a:off x="482601" y="799418"/>
            <a:ext cx="5613398" cy="2929357"/>
          </a:xfrm>
        </p:spPr>
        <p:txBody>
          <a:bodyPr anchor="t">
            <a:normAutofit/>
          </a:bodyPr>
          <a:lstStyle/>
          <a:p>
            <a:r>
              <a:rPr lang="en-US">
                <a:solidFill>
                  <a:srgbClr val="FFFFFF"/>
                </a:solidFill>
              </a:rPr>
              <a:t>Business Model</a:t>
            </a:r>
          </a:p>
        </p:txBody>
      </p:sp>
      <p:cxnSp>
        <p:nvCxnSpPr>
          <p:cNvPr id="16" name="Straight Connector 15">
            <a:extLst>
              <a:ext uri="{FF2B5EF4-FFF2-40B4-BE49-F238E27FC236}">
                <a16:creationId xmlns:a16="http://schemas.microsoft.com/office/drawing/2014/main" id="{6108BD3D-CFD0-4A15-ACF6-EBC254CD7CF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3" name="Content Placeholder 2">
            <a:extLst>
              <a:ext uri="{FF2B5EF4-FFF2-40B4-BE49-F238E27FC236}">
                <a16:creationId xmlns:a16="http://schemas.microsoft.com/office/drawing/2014/main" id="{C7A06337-3930-EB10-7A94-A0F9875F48BD}"/>
              </a:ext>
            </a:extLst>
          </p:cNvPr>
          <p:cNvSpPr>
            <a:spLocks noGrp="1"/>
          </p:cNvSpPr>
          <p:nvPr>
            <p:ph idx="1"/>
          </p:nvPr>
        </p:nvSpPr>
        <p:spPr>
          <a:xfrm>
            <a:off x="522464" y="3129219"/>
            <a:ext cx="5533671" cy="2299681"/>
          </a:xfrm>
        </p:spPr>
        <p:txBody>
          <a:bodyPr anchor="b">
            <a:normAutofit/>
          </a:bodyPr>
          <a:lstStyle/>
          <a:p>
            <a:r>
              <a:rPr lang="en-US" dirty="0">
                <a:solidFill>
                  <a:srgbClr val="FFFFFF"/>
                </a:solidFill>
              </a:rPr>
              <a:t>B2C</a:t>
            </a:r>
          </a:p>
          <a:p>
            <a:r>
              <a:rPr lang="en-US" dirty="0">
                <a:solidFill>
                  <a:srgbClr val="FFFFFF"/>
                </a:solidFill>
              </a:rPr>
              <a:t>    - Free </a:t>
            </a:r>
          </a:p>
          <a:p>
            <a:r>
              <a:rPr lang="en-US" dirty="0">
                <a:solidFill>
                  <a:srgbClr val="FFFFFF"/>
                </a:solidFill>
              </a:rPr>
              <a:t>B2B</a:t>
            </a:r>
            <a:br>
              <a:rPr lang="en-US" dirty="0">
                <a:solidFill>
                  <a:srgbClr val="FFFFFF"/>
                </a:solidFill>
              </a:rPr>
            </a:br>
            <a:r>
              <a:rPr lang="en-US" dirty="0">
                <a:solidFill>
                  <a:srgbClr val="FFFFFF"/>
                </a:solidFill>
              </a:rPr>
              <a:t>    #TBD</a:t>
            </a:r>
          </a:p>
        </p:txBody>
      </p:sp>
      <p:cxnSp>
        <p:nvCxnSpPr>
          <p:cNvPr id="18" name="Straight Connector 17">
            <a:extLst>
              <a:ext uri="{FF2B5EF4-FFF2-40B4-BE49-F238E27FC236}">
                <a16:creationId xmlns:a16="http://schemas.microsoft.com/office/drawing/2014/main" id="{DB2019E5-6C31-4640-A135-6BBA7FFCF6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33804408"/>
      </p:ext>
    </p:extLst>
  </p:cSld>
  <p:clrMapOvr>
    <a:masterClrMapping/>
  </p:clrMapOvr>
</p:sld>
</file>

<file path=ppt/theme/theme1.xml><?xml version="1.0" encoding="utf-8"?>
<a:theme xmlns:a="http://schemas.openxmlformats.org/drawingml/2006/main" name="LevelVTI">
  <a:themeElements>
    <a:clrScheme name="Custom 88">
      <a:dk1>
        <a:sysClr val="windowText" lastClr="000000"/>
      </a:dk1>
      <a:lt1>
        <a:sysClr val="window" lastClr="FFFFFF"/>
      </a:lt1>
      <a:dk2>
        <a:srgbClr val="182230"/>
      </a:dk2>
      <a:lt2>
        <a:srgbClr val="F2F2F2"/>
      </a:lt2>
      <a:accent1>
        <a:srgbClr val="00BAC8"/>
      </a:accent1>
      <a:accent2>
        <a:srgbClr val="794DFF"/>
      </a:accent2>
      <a:accent3>
        <a:srgbClr val="00D17D"/>
      </a:accent3>
      <a:accent4>
        <a:srgbClr val="E69500"/>
      </a:accent4>
      <a:accent5>
        <a:srgbClr val="FE5D21"/>
      </a:accent5>
      <a:accent6>
        <a:srgbClr val="939393"/>
      </a:accent6>
      <a:hlink>
        <a:srgbClr val="3E8FF1"/>
      </a:hlink>
      <a:folHlink>
        <a:srgbClr val="939393"/>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219</TotalTime>
  <Words>248</Words>
  <Application>Microsoft Macintosh PowerPoint</Application>
  <PresentationFormat>Widescreen</PresentationFormat>
  <Paragraphs>34</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Arial</vt:lpstr>
      <vt:lpstr>Seaford</vt:lpstr>
      <vt:lpstr>LevelVTI</vt:lpstr>
      <vt:lpstr>Productive Social Be your most productive self </vt:lpstr>
      <vt:lpstr>Task management Journaling Calendar &amp; scheduling Communication</vt:lpstr>
      <vt:lpstr>The problem with top productivity apps for all systems</vt:lpstr>
      <vt:lpstr>What’s unique it’s also the main downfall</vt:lpstr>
      <vt:lpstr>Social Media and Gamification</vt:lpstr>
      <vt:lpstr>Business Model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Миамбо Жуниор Рикардо Агоштиньо</dc:creator>
  <cp:lastModifiedBy>Миамбо Жуниор Рикардо Агоштиньо</cp:lastModifiedBy>
  <cp:revision>2</cp:revision>
  <dcterms:created xsi:type="dcterms:W3CDTF">2025-10-07T17:48:21Z</dcterms:created>
  <dcterms:modified xsi:type="dcterms:W3CDTF">2025-10-07T21:27:36Z</dcterms:modified>
</cp:coreProperties>
</file>